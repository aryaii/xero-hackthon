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Hi — we're CashFlow Growth Agent: an autonomous agent that finds revenue opportunities in real Xero data and drafts the fix for a human to approve. Built on the official Xero MCP Server, connected right now to a real Xero Demo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Small businesses lose money quietly. A high-value customer goes dormant and nobody notices for months. An invoice is predicted to pay late, and by the time someone checks, the cash gap has hit. Xero has all this data — nobody has time to mine it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We built an agent that runs the OODA loop — Observe, Orient, Decide, Act, Learn — directly on live Xero data. Observes 6 real sources in parallel. Orients with two detectors — dormant high-value customers and predicted late payments — each with transparent confidence math, not a black-box LLM guess. Decides by turning every finding into a human approval queue. Acts by creating a real DRAFT object the moment someone approves. Learns by summarizing what happened. Nothing is scripted.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(60-90s) SWITCH TO BROWSER. Click Restart if needed. Watch Observe populate — bank accounts, aged receivables, aged payables, P&amp;L, contact history, payment patterns, six live sources. Orient found three real late-payment risks — Basket Shop, City Limousines, Marine Systems — each backed by real invoice numbers, amounts, and a confidence formula I can open. Decide turns those into an approval queue. Click Approve on one — that just created a real DRAFT quote in Xero. Open the deep link: it's sitting in DRAFT, waiting for a human. Nothing sent, nothing authorised, until someone chooses.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A word on rigor, because it matters for judging: we didn't build against assumed API shapes. We tested the live MCP server first and found real surprises. List endpoints return formatted text, not JSON. The P&amp;L report caps at 11 periods. No idempotency key on writes — so we built our own guard. Every gap we couldn't close, like a live bank balance needing a scope we don't have, is labeled honestly in the UI instead of faked.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Safe by construction: every write is DRAFT only — never authorised, never a payment. Every action needs a human click. No email is ever auto-sent. No Xero secret ever touches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Under the hood, a straightforward stack — a React frontend streaming live over SSE, a Fastify backend running the OODA pipeline, talking to Xero exclusively through the official MCP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Real data in. Real drafts out. A human always stays in control. That's the loop — insight to measurable action, on real Xero data.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733"/>
        </a:solidFill>
      </p:bgPr>
    </p:bg>
    <p:spTree>
      <p:nvGrpSpPr>
        <p:cNvPr id="1" name=""/>
        <p:cNvGrpSpPr/>
        <p:nvPr/>
      </p:nvGrpSpPr>
      <p:grpSpPr>
        <a:xfrm>
          <a:off x="0" y="0"/>
          <a:ext cx="0" cy="0"/>
          <a:chOff x="0" y="0"/>
          <a:chExt cx="0" cy="0"/>
        </a:xfrm>
      </p:grpSpPr>
      <p:sp>
        <p:nvSpPr>
          <p:cNvPr id="2" name="Shape 0"/>
          <p:cNvSpPr/>
          <p:nvPr/>
        </p:nvSpPr>
        <p:spPr>
          <a:xfrm>
            <a:off x="822960" y="1600200"/>
            <a:ext cx="1051560" cy="1051560"/>
          </a:xfrm>
          <a:prstGeom prst="ellipse">
            <a:avLst/>
          </a:prstGeom>
          <a:solidFill>
            <a:srgbClr val="13B5EA"/>
          </a:solidFill>
          <a:ln/>
        </p:spPr>
      </p:sp>
      <p:sp>
        <p:nvSpPr>
          <p:cNvPr id="3" name="Text 1"/>
          <p:cNvSpPr/>
          <p:nvPr/>
        </p:nvSpPr>
        <p:spPr>
          <a:xfrm>
            <a:off x="822960" y="1600200"/>
            <a:ext cx="1051560" cy="1051560"/>
          </a:xfrm>
          <a:prstGeom prst="rect">
            <a:avLst/>
          </a:prstGeom>
          <a:noFill/>
          <a:ln/>
        </p:spPr>
        <p:txBody>
          <a:bodyPr wrap="square" rtlCol="0" anchor="ctr"/>
          <a:lstStyle/>
          <a:p>
            <a:pPr algn="ctr" indent="0" marL="0">
              <a:buNone/>
            </a:pPr>
            <a:r>
              <a:rPr lang="en-US" sz="4600" b="1" dirty="0">
                <a:solidFill>
                  <a:srgbClr val="FFFFFF"/>
                </a:solidFill>
                <a:latin typeface="Inter" pitchFamily="34" charset="0"/>
                <a:ea typeface="Inter" pitchFamily="34" charset="-122"/>
                <a:cs typeface="Inter" pitchFamily="34" charset="-120"/>
              </a:rPr>
              <a:t>X</a:t>
            </a:r>
            <a:endParaRPr lang="en-US" sz="4600" dirty="0"/>
          </a:p>
        </p:txBody>
      </p:sp>
      <p:sp>
        <p:nvSpPr>
          <p:cNvPr id="4" name="Text 2"/>
          <p:cNvSpPr/>
          <p:nvPr/>
        </p:nvSpPr>
        <p:spPr>
          <a:xfrm>
            <a:off x="777240" y="278892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CashFlow Growth Agent</a:t>
            </a:r>
            <a:endParaRPr lang="en-US" sz="4000" dirty="0"/>
          </a:p>
        </p:txBody>
      </p:sp>
      <p:sp>
        <p:nvSpPr>
          <p:cNvPr id="5" name="Text 3"/>
          <p:cNvSpPr/>
          <p:nvPr/>
        </p:nvSpPr>
        <p:spPr>
          <a:xfrm>
            <a:off x="822960" y="3611880"/>
            <a:ext cx="6949440" cy="822960"/>
          </a:xfrm>
          <a:prstGeom prst="rect">
            <a:avLst/>
          </a:prstGeom>
          <a:noFill/>
          <a:ln/>
        </p:spPr>
        <p:txBody>
          <a:bodyPr wrap="square" lIns="0" tIns="0" rIns="0" bIns="0" rtlCol="0" anchor="ctr"/>
          <a:lstStyle/>
          <a:p>
            <a:pPr indent="0" marL="0">
              <a:lnSpc>
                <a:spcPct val="115000"/>
              </a:lnSpc>
              <a:buNone/>
            </a:pPr>
            <a:r>
              <a:rPr lang="en-US" sz="1550" dirty="0">
                <a:solidFill>
                  <a:srgbClr val="C4CDD5"/>
                </a:solidFill>
                <a:latin typeface="Inter" pitchFamily="34" charset="0"/>
                <a:ea typeface="Inter" pitchFamily="34" charset="-122"/>
                <a:cs typeface="Inter" pitchFamily="34" charset="-120"/>
              </a:rPr>
              <a:t>An autonomous agent that finds revenue opportunities in real Xero data —  and drafts the fix for you to approve.</a:t>
            </a:r>
            <a:endParaRPr lang="en-US" sz="1550" dirty="0"/>
          </a:p>
        </p:txBody>
      </p:sp>
      <p:sp>
        <p:nvSpPr>
          <p:cNvPr id="6" name="Text 4"/>
          <p:cNvSpPr/>
          <p:nvPr/>
        </p:nvSpPr>
        <p:spPr>
          <a:xfrm>
            <a:off x="5394960" y="4709160"/>
            <a:ext cx="3291840" cy="274320"/>
          </a:xfrm>
          <a:prstGeom prst="rect">
            <a:avLst/>
          </a:prstGeom>
          <a:noFill/>
          <a:ln/>
        </p:spPr>
        <p:txBody>
          <a:bodyPr wrap="square" lIns="0" tIns="0" rIns="0" bIns="0" rtlCol="0" anchor="ctr"/>
          <a:lstStyle/>
          <a:p>
            <a:pPr algn="r" indent="0" marL="0">
              <a:buNone/>
            </a:pPr>
            <a:r>
              <a:rPr lang="en-US" sz="1000" dirty="0">
                <a:solidFill>
                  <a:srgbClr val="8592A0"/>
                </a:solidFill>
                <a:latin typeface="Inter" pitchFamily="34" charset="0"/>
                <a:ea typeface="Inter" pitchFamily="34" charset="-122"/>
                <a:cs typeface="Inter" pitchFamily="34" charset="-120"/>
              </a:rPr>
              <a:t>Works with Xero  ·  not an official Xero product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000" b="1" dirty="0">
                <a:solidFill>
                  <a:srgbClr val="1B2733"/>
                </a:solidFill>
                <a:latin typeface="Inter" pitchFamily="34" charset="0"/>
                <a:ea typeface="Inter" pitchFamily="34" charset="-122"/>
                <a:cs typeface="Inter" pitchFamily="34" charset="-120"/>
              </a:rPr>
              <a:t>Small businesses lose money quietly</a:t>
            </a:r>
            <a:endParaRPr lang="en-US" sz="3000" dirty="0"/>
          </a:p>
        </p:txBody>
      </p:sp>
      <p:sp>
        <p:nvSpPr>
          <p:cNvPr id="3" name="Shape 1"/>
          <p:cNvSpPr/>
          <p:nvPr/>
        </p:nvSpPr>
        <p:spPr>
          <a:xfrm>
            <a:off x="548640" y="1417320"/>
            <a:ext cx="2624328" cy="2606040"/>
          </a:xfrm>
          <a:prstGeom prst="roundRect">
            <a:avLst>
              <a:gd name="adj" fmla="val 3509"/>
            </a:avLst>
          </a:prstGeom>
          <a:solidFill>
            <a:srgbClr val="FFFFFF"/>
          </a:solidFill>
          <a:ln/>
          <a:effectLst>
            <a:outerShdw sx="100000" sy="100000" kx="0" ky="0" algn="bl" rotWithShape="0" blurRad="114300" dist="38100" dir="5400000">
              <a:srgbClr val="9AA5AE">
                <a:alpha val="28000"/>
              </a:srgbClr>
            </a:outerShdw>
          </a:effectLst>
        </p:spPr>
      </p:sp>
      <p:sp>
        <p:nvSpPr>
          <p:cNvPr id="4" name="Shape 2"/>
          <p:cNvSpPr/>
          <p:nvPr/>
        </p:nvSpPr>
        <p:spPr>
          <a:xfrm>
            <a:off x="868680" y="1737360"/>
            <a:ext cx="777240" cy="777240"/>
          </a:xfrm>
          <a:prstGeom prst="ellipse">
            <a:avLst/>
          </a:prstGeom>
          <a:solidFill>
            <a:srgbClr val="13B5EA"/>
          </a:solidFill>
          <a:ln/>
        </p:spPr>
      </p:sp>
      <p:pic>
        <p:nvPicPr>
          <p:cNvPr id="5" name="Image 0" descr="icons/clock.png">    </p:cNvPr>
          <p:cNvPicPr>
            <a:picLocks noChangeAspect="1"/>
          </p:cNvPicPr>
          <p:nvPr/>
        </p:nvPicPr>
        <p:blipFill>
          <a:blip r:embed="rId1"/>
          <a:stretch>
            <a:fillRect/>
          </a:stretch>
        </p:blipFill>
        <p:spPr>
          <a:xfrm>
            <a:off x="1070762" y="1939442"/>
            <a:ext cx="373075" cy="373075"/>
          </a:xfrm>
          <a:prstGeom prst="rect">
            <a:avLst/>
          </a:prstGeom>
        </p:spPr>
      </p:pic>
      <p:sp>
        <p:nvSpPr>
          <p:cNvPr id="6" name="Text 3"/>
          <p:cNvSpPr/>
          <p:nvPr/>
        </p:nvSpPr>
        <p:spPr>
          <a:xfrm>
            <a:off x="822960" y="2697480"/>
            <a:ext cx="2075688" cy="594360"/>
          </a:xfrm>
          <a:prstGeom prst="rect">
            <a:avLst/>
          </a:prstGeom>
          <a:noFill/>
          <a:ln/>
        </p:spPr>
        <p:txBody>
          <a:bodyPr wrap="square" lIns="0" tIns="0" rIns="0" bIns="0" rtlCol="0" anchor="t"/>
          <a:lstStyle/>
          <a:p>
            <a:pPr indent="0" marL="0">
              <a:buNone/>
            </a:pPr>
            <a:r>
              <a:rPr lang="en-US" sz="1650" b="1" dirty="0">
                <a:solidFill>
                  <a:srgbClr val="1B2733"/>
                </a:solidFill>
                <a:latin typeface="Inter" pitchFamily="34" charset="0"/>
                <a:ea typeface="Inter" pitchFamily="34" charset="-122"/>
                <a:cs typeface="Inter" pitchFamily="34" charset="-120"/>
              </a:rPr>
              <a:t>Late payers erode cash</a:t>
            </a:r>
            <a:endParaRPr lang="en-US" sz="1650" dirty="0"/>
          </a:p>
        </p:txBody>
      </p:sp>
      <p:sp>
        <p:nvSpPr>
          <p:cNvPr id="7" name="Text 4"/>
          <p:cNvSpPr/>
          <p:nvPr/>
        </p:nvSpPr>
        <p:spPr>
          <a:xfrm>
            <a:off x="822960" y="3246120"/>
            <a:ext cx="2075688" cy="731520"/>
          </a:xfrm>
          <a:prstGeom prst="rect">
            <a:avLst/>
          </a:prstGeom>
          <a:noFill/>
          <a:ln/>
        </p:spPr>
        <p:txBody>
          <a:bodyPr wrap="square" lIns="0" tIns="0" rIns="0" bIns="0" rtlCol="0" anchor="ctr"/>
          <a:lstStyle/>
          <a:p>
            <a:pPr indent="0" marL="0">
              <a:lnSpc>
                <a:spcPct val="112000"/>
              </a:lnSpc>
              <a:buNone/>
            </a:pPr>
            <a:r>
              <a:rPr lang="en-US" sz="1250" dirty="0">
                <a:solidFill>
                  <a:srgbClr val="5A6672"/>
                </a:solidFill>
                <a:latin typeface="Inter" pitchFamily="34" charset="0"/>
                <a:ea typeface="Inter" pitchFamily="34" charset="-122"/>
                <a:cs typeface="Inter" pitchFamily="34" charset="-120"/>
              </a:rPr>
              <a:t>Invoices drift past due and eat into cash flow before anyone notices.</a:t>
            </a:r>
            <a:endParaRPr lang="en-US" sz="1250" dirty="0"/>
          </a:p>
        </p:txBody>
      </p:sp>
      <p:sp>
        <p:nvSpPr>
          <p:cNvPr id="8" name="Shape 5"/>
          <p:cNvSpPr/>
          <p:nvPr/>
        </p:nvSpPr>
        <p:spPr>
          <a:xfrm>
            <a:off x="3465576" y="1417320"/>
            <a:ext cx="2624328" cy="2606040"/>
          </a:xfrm>
          <a:prstGeom prst="roundRect">
            <a:avLst>
              <a:gd name="adj" fmla="val 3509"/>
            </a:avLst>
          </a:prstGeom>
          <a:solidFill>
            <a:srgbClr val="FFFFFF"/>
          </a:solidFill>
          <a:ln/>
          <a:effectLst>
            <a:outerShdw sx="100000" sy="100000" kx="0" ky="0" algn="bl" rotWithShape="0" blurRad="114300" dist="38100" dir="5400000">
              <a:srgbClr val="9AA5AE">
                <a:alpha val="28000"/>
              </a:srgbClr>
            </a:outerShdw>
          </a:effectLst>
        </p:spPr>
      </p:sp>
      <p:sp>
        <p:nvSpPr>
          <p:cNvPr id="9" name="Shape 6"/>
          <p:cNvSpPr/>
          <p:nvPr/>
        </p:nvSpPr>
        <p:spPr>
          <a:xfrm>
            <a:off x="3785616" y="1737360"/>
            <a:ext cx="777240" cy="777240"/>
          </a:xfrm>
          <a:prstGeom prst="ellipse">
            <a:avLst/>
          </a:prstGeom>
          <a:solidFill>
            <a:srgbClr val="13B5EA"/>
          </a:solidFill>
          <a:ln/>
        </p:spPr>
      </p:sp>
      <p:pic>
        <p:nvPicPr>
          <p:cNvPr id="10" name="Image 1" descr="icons/dormant.png">    </p:cNvPr>
          <p:cNvPicPr>
            <a:picLocks noChangeAspect="1"/>
          </p:cNvPicPr>
          <p:nvPr/>
        </p:nvPicPr>
        <p:blipFill>
          <a:blip r:embed="rId2"/>
          <a:stretch>
            <a:fillRect/>
          </a:stretch>
        </p:blipFill>
        <p:spPr>
          <a:xfrm>
            <a:off x="3987698" y="1939442"/>
            <a:ext cx="373075" cy="373075"/>
          </a:xfrm>
          <a:prstGeom prst="rect">
            <a:avLst/>
          </a:prstGeom>
        </p:spPr>
      </p:pic>
      <p:sp>
        <p:nvSpPr>
          <p:cNvPr id="11" name="Text 7"/>
          <p:cNvSpPr/>
          <p:nvPr/>
        </p:nvSpPr>
        <p:spPr>
          <a:xfrm>
            <a:off x="3739896" y="2697480"/>
            <a:ext cx="2075688" cy="594360"/>
          </a:xfrm>
          <a:prstGeom prst="rect">
            <a:avLst/>
          </a:prstGeom>
          <a:noFill/>
          <a:ln/>
        </p:spPr>
        <p:txBody>
          <a:bodyPr wrap="square" lIns="0" tIns="0" rIns="0" bIns="0" rtlCol="0" anchor="t"/>
          <a:lstStyle/>
          <a:p>
            <a:pPr indent="0" marL="0">
              <a:buNone/>
            </a:pPr>
            <a:r>
              <a:rPr lang="en-US" sz="1650" b="1" dirty="0">
                <a:solidFill>
                  <a:srgbClr val="1B2733"/>
                </a:solidFill>
                <a:latin typeface="Inter" pitchFamily="34" charset="0"/>
                <a:ea typeface="Inter" pitchFamily="34" charset="-122"/>
                <a:cs typeface="Inter" pitchFamily="34" charset="-120"/>
              </a:rPr>
              <a:t>High-value customers go quiet</a:t>
            </a:r>
            <a:endParaRPr lang="en-US" sz="1650" dirty="0"/>
          </a:p>
        </p:txBody>
      </p:sp>
      <p:sp>
        <p:nvSpPr>
          <p:cNvPr id="12" name="Text 8"/>
          <p:cNvSpPr/>
          <p:nvPr/>
        </p:nvSpPr>
        <p:spPr>
          <a:xfrm>
            <a:off x="3739896" y="3246120"/>
            <a:ext cx="2075688" cy="731520"/>
          </a:xfrm>
          <a:prstGeom prst="rect">
            <a:avLst/>
          </a:prstGeom>
          <a:noFill/>
          <a:ln/>
        </p:spPr>
        <p:txBody>
          <a:bodyPr wrap="square" lIns="0" tIns="0" rIns="0" bIns="0" rtlCol="0" anchor="ctr"/>
          <a:lstStyle/>
          <a:p>
            <a:pPr indent="0" marL="0">
              <a:lnSpc>
                <a:spcPct val="112000"/>
              </a:lnSpc>
              <a:buNone/>
            </a:pPr>
            <a:r>
              <a:rPr lang="en-US" sz="1250" dirty="0">
                <a:solidFill>
                  <a:srgbClr val="5A6672"/>
                </a:solidFill>
                <a:latin typeface="Inter" pitchFamily="34" charset="0"/>
                <a:ea typeface="Inter" pitchFamily="34" charset="-122"/>
                <a:cs typeface="Inter" pitchFamily="34" charset="-120"/>
              </a:rPr>
              <a:t>A top account goes dormant for months — with no alert to flag it.</a:t>
            </a:r>
            <a:endParaRPr lang="en-US" sz="1250" dirty="0"/>
          </a:p>
        </p:txBody>
      </p:sp>
      <p:sp>
        <p:nvSpPr>
          <p:cNvPr id="13" name="Shape 9"/>
          <p:cNvSpPr/>
          <p:nvPr/>
        </p:nvSpPr>
        <p:spPr>
          <a:xfrm>
            <a:off x="6382512" y="1417320"/>
            <a:ext cx="2624328" cy="2606040"/>
          </a:xfrm>
          <a:prstGeom prst="roundRect">
            <a:avLst>
              <a:gd name="adj" fmla="val 3509"/>
            </a:avLst>
          </a:prstGeom>
          <a:solidFill>
            <a:srgbClr val="FFFFFF"/>
          </a:solidFill>
          <a:ln/>
          <a:effectLst>
            <a:outerShdw sx="100000" sy="100000" kx="0" ky="0" algn="bl" rotWithShape="0" blurRad="114300" dist="38100" dir="5400000">
              <a:srgbClr val="9AA5AE">
                <a:alpha val="28000"/>
              </a:srgbClr>
            </a:outerShdw>
          </a:effectLst>
        </p:spPr>
      </p:sp>
      <p:sp>
        <p:nvSpPr>
          <p:cNvPr id="14" name="Shape 10"/>
          <p:cNvSpPr/>
          <p:nvPr/>
        </p:nvSpPr>
        <p:spPr>
          <a:xfrm>
            <a:off x="6702552" y="1737360"/>
            <a:ext cx="777240" cy="777240"/>
          </a:xfrm>
          <a:prstGeom prst="ellipse">
            <a:avLst/>
          </a:prstGeom>
          <a:solidFill>
            <a:srgbClr val="13B5EA"/>
          </a:solidFill>
          <a:ln/>
        </p:spPr>
      </p:sp>
      <p:pic>
        <p:nvPicPr>
          <p:cNvPr id="15" name="Image 2" descr="icons/hourglass.png">    </p:cNvPr>
          <p:cNvPicPr>
            <a:picLocks noChangeAspect="1"/>
          </p:cNvPicPr>
          <p:nvPr/>
        </p:nvPicPr>
        <p:blipFill>
          <a:blip r:embed="rId3"/>
          <a:stretch>
            <a:fillRect/>
          </a:stretch>
        </p:blipFill>
        <p:spPr>
          <a:xfrm>
            <a:off x="6904634" y="1939442"/>
            <a:ext cx="373075" cy="373075"/>
          </a:xfrm>
          <a:prstGeom prst="rect">
            <a:avLst/>
          </a:prstGeom>
        </p:spPr>
      </p:pic>
      <p:sp>
        <p:nvSpPr>
          <p:cNvPr id="16" name="Text 11"/>
          <p:cNvSpPr/>
          <p:nvPr/>
        </p:nvSpPr>
        <p:spPr>
          <a:xfrm>
            <a:off x="6656832" y="2697480"/>
            <a:ext cx="2075688" cy="594360"/>
          </a:xfrm>
          <a:prstGeom prst="rect">
            <a:avLst/>
          </a:prstGeom>
          <a:noFill/>
          <a:ln/>
        </p:spPr>
        <p:txBody>
          <a:bodyPr wrap="square" lIns="0" tIns="0" rIns="0" bIns="0" rtlCol="0" anchor="t"/>
          <a:lstStyle/>
          <a:p>
            <a:pPr indent="0" marL="0">
              <a:buNone/>
            </a:pPr>
            <a:r>
              <a:rPr lang="en-US" sz="1650" b="1" dirty="0">
                <a:solidFill>
                  <a:srgbClr val="1B2733"/>
                </a:solidFill>
                <a:latin typeface="Inter" pitchFamily="34" charset="0"/>
                <a:ea typeface="Inter" pitchFamily="34" charset="-122"/>
                <a:cs typeface="Inter" pitchFamily="34" charset="-120"/>
              </a:rPr>
              <a:t>The window closes</a:t>
            </a:r>
            <a:endParaRPr lang="en-US" sz="1650" dirty="0"/>
          </a:p>
        </p:txBody>
      </p:sp>
      <p:sp>
        <p:nvSpPr>
          <p:cNvPr id="17" name="Text 12"/>
          <p:cNvSpPr/>
          <p:nvPr/>
        </p:nvSpPr>
        <p:spPr>
          <a:xfrm>
            <a:off x="6656832" y="3246120"/>
            <a:ext cx="2075688" cy="731520"/>
          </a:xfrm>
          <a:prstGeom prst="rect">
            <a:avLst/>
          </a:prstGeom>
          <a:noFill/>
          <a:ln/>
        </p:spPr>
        <p:txBody>
          <a:bodyPr wrap="square" lIns="0" tIns="0" rIns="0" bIns="0" rtlCol="0" anchor="ctr"/>
          <a:lstStyle/>
          <a:p>
            <a:pPr indent="0" marL="0">
              <a:lnSpc>
                <a:spcPct val="112000"/>
              </a:lnSpc>
              <a:buNone/>
            </a:pPr>
            <a:r>
              <a:rPr lang="en-US" sz="1250" dirty="0">
                <a:solidFill>
                  <a:srgbClr val="5A6672"/>
                </a:solidFill>
                <a:latin typeface="Inter" pitchFamily="34" charset="0"/>
                <a:ea typeface="Inter" pitchFamily="34" charset="-122"/>
                <a:cs typeface="Inter" pitchFamily="34" charset="-120"/>
              </a:rPr>
              <a:t>By the time someone checks the numbers, the opportunity is already gone.</a:t>
            </a:r>
            <a:endParaRPr lang="en-US" sz="1250" dirty="0"/>
          </a:p>
        </p:txBody>
      </p:sp>
      <p:sp>
        <p:nvSpPr>
          <p:cNvPr id="18" name="Text 13"/>
          <p:cNvSpPr/>
          <p:nvPr/>
        </p:nvSpPr>
        <p:spPr>
          <a:xfrm>
            <a:off x="548640" y="4343400"/>
            <a:ext cx="8046720" cy="457200"/>
          </a:xfrm>
          <a:prstGeom prst="rect">
            <a:avLst/>
          </a:prstGeom>
          <a:noFill/>
          <a:ln/>
        </p:spPr>
        <p:txBody>
          <a:bodyPr wrap="square" lIns="0" tIns="0" rIns="0" bIns="0" rtlCol="0" anchor="ctr"/>
          <a:lstStyle/>
          <a:p>
            <a:pPr indent="0" marL="0">
              <a:buNone/>
            </a:pPr>
            <a:r>
              <a:rPr lang="en-US" sz="1500" b="1" i="1" dirty="0">
                <a:solidFill>
                  <a:srgbClr val="0E8FBD"/>
                </a:solidFill>
                <a:latin typeface="Inter" pitchFamily="34" charset="0"/>
                <a:ea typeface="Inter" pitchFamily="34" charset="-122"/>
                <a:cs typeface="Inter" pitchFamily="34" charset="-120"/>
              </a:rPr>
              <a:t>Xero has the data. Nobody has time to mine it every single day.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411480"/>
            <a:ext cx="8046720" cy="640080"/>
          </a:xfrm>
          <a:prstGeom prst="rect">
            <a:avLst/>
          </a:prstGeom>
          <a:noFill/>
          <a:ln/>
        </p:spPr>
        <p:txBody>
          <a:bodyPr wrap="square" lIns="0" tIns="0" rIns="0" bIns="0" rtlCol="0" anchor="ctr"/>
          <a:lstStyle/>
          <a:p>
            <a:pPr indent="0" marL="0">
              <a:buNone/>
            </a:pPr>
            <a:r>
              <a:rPr lang="en-US" sz="2600" b="1" dirty="0">
                <a:solidFill>
                  <a:srgbClr val="1B2733"/>
                </a:solidFill>
                <a:latin typeface="Inter" pitchFamily="34" charset="0"/>
                <a:ea typeface="Inter" pitchFamily="34" charset="-122"/>
                <a:cs typeface="Inter" pitchFamily="34" charset="-120"/>
              </a:rPr>
              <a:t>An agent that runs the OODA loop on your real Xero data</a:t>
            </a:r>
            <a:endParaRPr lang="en-US" sz="2600" dirty="0"/>
          </a:p>
        </p:txBody>
      </p:sp>
      <p:sp>
        <p:nvSpPr>
          <p:cNvPr id="3" name="Shape 1"/>
          <p:cNvSpPr/>
          <p:nvPr/>
        </p:nvSpPr>
        <p:spPr>
          <a:xfrm>
            <a:off x="1828800" y="1837944"/>
            <a:ext cx="658368" cy="0"/>
          </a:xfrm>
          <a:prstGeom prst="line">
            <a:avLst/>
          </a:prstGeom>
          <a:noFill/>
          <a:ln w="28575">
            <a:solidFill>
              <a:srgbClr val="13B5EA"/>
            </a:solidFill>
            <a:prstDash val="solid"/>
            <a:tailEnd type="triangle"/>
          </a:ln>
        </p:spPr>
      </p:sp>
      <p:sp>
        <p:nvSpPr>
          <p:cNvPr id="4" name="Shape 2"/>
          <p:cNvSpPr/>
          <p:nvPr/>
        </p:nvSpPr>
        <p:spPr>
          <a:xfrm>
            <a:off x="3419856" y="1837944"/>
            <a:ext cx="658368" cy="0"/>
          </a:xfrm>
          <a:prstGeom prst="line">
            <a:avLst/>
          </a:prstGeom>
          <a:noFill/>
          <a:ln w="28575">
            <a:solidFill>
              <a:srgbClr val="13B5EA"/>
            </a:solidFill>
            <a:prstDash val="solid"/>
            <a:tailEnd type="triangle"/>
          </a:ln>
        </p:spPr>
      </p:sp>
      <p:sp>
        <p:nvSpPr>
          <p:cNvPr id="5" name="Shape 3"/>
          <p:cNvSpPr/>
          <p:nvPr/>
        </p:nvSpPr>
        <p:spPr>
          <a:xfrm>
            <a:off x="5010912" y="1837944"/>
            <a:ext cx="658368" cy="0"/>
          </a:xfrm>
          <a:prstGeom prst="line">
            <a:avLst/>
          </a:prstGeom>
          <a:noFill/>
          <a:ln w="28575">
            <a:solidFill>
              <a:srgbClr val="13B5EA"/>
            </a:solidFill>
            <a:prstDash val="solid"/>
            <a:tailEnd type="triangle"/>
          </a:ln>
        </p:spPr>
      </p:sp>
      <p:sp>
        <p:nvSpPr>
          <p:cNvPr id="6" name="Shape 4"/>
          <p:cNvSpPr/>
          <p:nvPr/>
        </p:nvSpPr>
        <p:spPr>
          <a:xfrm>
            <a:off x="6601968" y="1837944"/>
            <a:ext cx="658368" cy="0"/>
          </a:xfrm>
          <a:prstGeom prst="line">
            <a:avLst/>
          </a:prstGeom>
          <a:noFill/>
          <a:ln w="28575">
            <a:solidFill>
              <a:srgbClr val="13B5EA"/>
            </a:solidFill>
            <a:prstDash val="solid"/>
            <a:tailEnd type="triangle"/>
          </a:ln>
        </p:spPr>
      </p:sp>
      <p:sp>
        <p:nvSpPr>
          <p:cNvPr id="7" name="Shape 5"/>
          <p:cNvSpPr/>
          <p:nvPr/>
        </p:nvSpPr>
        <p:spPr>
          <a:xfrm>
            <a:off x="941832" y="1417320"/>
            <a:ext cx="841248" cy="841248"/>
          </a:xfrm>
          <a:prstGeom prst="ellipse">
            <a:avLst/>
          </a:prstGeom>
          <a:solidFill>
            <a:srgbClr val="13B5EA"/>
          </a:solidFill>
          <a:ln/>
        </p:spPr>
      </p:sp>
      <p:pic>
        <p:nvPicPr>
          <p:cNvPr id="8" name="Image 0" descr="icons/observe.png">    </p:cNvPr>
          <p:cNvPicPr>
            <a:picLocks noChangeAspect="1"/>
          </p:cNvPicPr>
          <p:nvPr/>
        </p:nvPicPr>
        <p:blipFill>
          <a:blip r:embed="rId1"/>
          <a:stretch>
            <a:fillRect/>
          </a:stretch>
        </p:blipFill>
        <p:spPr>
          <a:xfrm>
            <a:off x="1160556" y="1636044"/>
            <a:ext cx="403799" cy="403799"/>
          </a:xfrm>
          <a:prstGeom prst="rect">
            <a:avLst/>
          </a:prstGeom>
        </p:spPr>
      </p:pic>
      <p:sp>
        <p:nvSpPr>
          <p:cNvPr id="9" name="Text 6"/>
          <p:cNvSpPr/>
          <p:nvPr/>
        </p:nvSpPr>
        <p:spPr>
          <a:xfrm>
            <a:off x="566928" y="2368296"/>
            <a:ext cx="1591056" cy="320040"/>
          </a:xfrm>
          <a:prstGeom prst="rect">
            <a:avLst/>
          </a:prstGeom>
          <a:noFill/>
          <a:ln/>
        </p:spPr>
        <p:txBody>
          <a:bodyPr wrap="square" lIns="0" tIns="0" rIns="0" bIns="0" rtlCol="0" anchor="ctr"/>
          <a:lstStyle/>
          <a:p>
            <a:pPr algn="ctr" indent="0" marL="0">
              <a:buNone/>
            </a:pPr>
            <a:r>
              <a:rPr lang="en-US" sz="1500" b="1" dirty="0">
                <a:solidFill>
                  <a:srgbClr val="1B2733"/>
                </a:solidFill>
                <a:latin typeface="Inter" pitchFamily="34" charset="0"/>
                <a:ea typeface="Inter" pitchFamily="34" charset="-122"/>
                <a:cs typeface="Inter" pitchFamily="34" charset="-120"/>
              </a:rPr>
              <a:t>Observe</a:t>
            </a:r>
            <a:endParaRPr lang="en-US" sz="1500" dirty="0"/>
          </a:p>
        </p:txBody>
      </p:sp>
      <p:sp>
        <p:nvSpPr>
          <p:cNvPr id="10" name="Text 7"/>
          <p:cNvSpPr/>
          <p:nvPr/>
        </p:nvSpPr>
        <p:spPr>
          <a:xfrm>
            <a:off x="603504" y="2715768"/>
            <a:ext cx="1517904" cy="1371600"/>
          </a:xfrm>
          <a:prstGeom prst="rect">
            <a:avLst/>
          </a:prstGeom>
          <a:noFill/>
          <a:ln/>
        </p:spPr>
        <p:txBody>
          <a:bodyPr wrap="square" lIns="0" tIns="0" rIns="0" bIns="0" rtlCol="0" anchor="t"/>
          <a:lstStyle/>
          <a:p>
            <a:pPr algn="ctr" indent="0" marL="0">
              <a:lnSpc>
                <a:spcPct val="112000"/>
              </a:lnSpc>
              <a:buNone/>
            </a:pPr>
            <a:r>
              <a:rPr lang="en-US" sz="1100" dirty="0">
                <a:solidFill>
                  <a:srgbClr val="5A6672"/>
                </a:solidFill>
                <a:latin typeface="Inter" pitchFamily="34" charset="0"/>
                <a:ea typeface="Inter" pitchFamily="34" charset="-122"/>
                <a:cs typeface="Inter" pitchFamily="34" charset="-120"/>
              </a:rPr>
              <a:t>Pulls 6 real data sources live</a:t>
            </a:r>
            <a:endParaRPr lang="en-US" sz="1100" dirty="0"/>
          </a:p>
        </p:txBody>
      </p:sp>
      <p:sp>
        <p:nvSpPr>
          <p:cNvPr id="11" name="Shape 8"/>
          <p:cNvSpPr/>
          <p:nvPr/>
        </p:nvSpPr>
        <p:spPr>
          <a:xfrm>
            <a:off x="2532888" y="1417320"/>
            <a:ext cx="841248" cy="841248"/>
          </a:xfrm>
          <a:prstGeom prst="ellipse">
            <a:avLst/>
          </a:prstGeom>
          <a:solidFill>
            <a:srgbClr val="13B5EA"/>
          </a:solidFill>
          <a:ln/>
        </p:spPr>
      </p:sp>
      <p:pic>
        <p:nvPicPr>
          <p:cNvPr id="12" name="Image 1" descr="icons/orient.png">    </p:cNvPr>
          <p:cNvPicPr>
            <a:picLocks noChangeAspect="1"/>
          </p:cNvPicPr>
          <p:nvPr/>
        </p:nvPicPr>
        <p:blipFill>
          <a:blip r:embed="rId2"/>
          <a:stretch>
            <a:fillRect/>
          </a:stretch>
        </p:blipFill>
        <p:spPr>
          <a:xfrm>
            <a:off x="2751612" y="1636044"/>
            <a:ext cx="403799" cy="403799"/>
          </a:xfrm>
          <a:prstGeom prst="rect">
            <a:avLst/>
          </a:prstGeom>
        </p:spPr>
      </p:pic>
      <p:sp>
        <p:nvSpPr>
          <p:cNvPr id="13" name="Text 9"/>
          <p:cNvSpPr/>
          <p:nvPr/>
        </p:nvSpPr>
        <p:spPr>
          <a:xfrm>
            <a:off x="2157984" y="2368296"/>
            <a:ext cx="1591056" cy="320040"/>
          </a:xfrm>
          <a:prstGeom prst="rect">
            <a:avLst/>
          </a:prstGeom>
          <a:noFill/>
          <a:ln/>
        </p:spPr>
        <p:txBody>
          <a:bodyPr wrap="square" lIns="0" tIns="0" rIns="0" bIns="0" rtlCol="0" anchor="ctr"/>
          <a:lstStyle/>
          <a:p>
            <a:pPr algn="ctr" indent="0" marL="0">
              <a:buNone/>
            </a:pPr>
            <a:r>
              <a:rPr lang="en-US" sz="1500" b="1" dirty="0">
                <a:solidFill>
                  <a:srgbClr val="1B2733"/>
                </a:solidFill>
                <a:latin typeface="Inter" pitchFamily="34" charset="0"/>
                <a:ea typeface="Inter" pitchFamily="34" charset="-122"/>
                <a:cs typeface="Inter" pitchFamily="34" charset="-120"/>
              </a:rPr>
              <a:t>Orient</a:t>
            </a:r>
            <a:endParaRPr lang="en-US" sz="1500" dirty="0"/>
          </a:p>
        </p:txBody>
      </p:sp>
      <p:sp>
        <p:nvSpPr>
          <p:cNvPr id="14" name="Text 10"/>
          <p:cNvSpPr/>
          <p:nvPr/>
        </p:nvSpPr>
        <p:spPr>
          <a:xfrm>
            <a:off x="2194560" y="2715768"/>
            <a:ext cx="1517904" cy="1371600"/>
          </a:xfrm>
          <a:prstGeom prst="rect">
            <a:avLst/>
          </a:prstGeom>
          <a:noFill/>
          <a:ln/>
        </p:spPr>
        <p:txBody>
          <a:bodyPr wrap="square" lIns="0" tIns="0" rIns="0" bIns="0" rtlCol="0" anchor="t"/>
          <a:lstStyle/>
          <a:p>
            <a:pPr algn="ctr" indent="0" marL="0">
              <a:lnSpc>
                <a:spcPct val="112000"/>
              </a:lnSpc>
              <a:buNone/>
            </a:pPr>
            <a:r>
              <a:rPr lang="en-US" sz="1100" dirty="0">
                <a:solidFill>
                  <a:srgbClr val="5A6672"/>
                </a:solidFill>
                <a:latin typeface="Inter" pitchFamily="34" charset="0"/>
                <a:ea typeface="Inter" pitchFamily="34" charset="-122"/>
                <a:cs typeface="Inter" pitchFamily="34" charset="-120"/>
              </a:rPr>
              <a:t>Two detectors flag risk, with transparent confidence math</a:t>
            </a:r>
            <a:endParaRPr lang="en-US" sz="1100" dirty="0"/>
          </a:p>
        </p:txBody>
      </p:sp>
      <p:sp>
        <p:nvSpPr>
          <p:cNvPr id="15" name="Shape 11"/>
          <p:cNvSpPr/>
          <p:nvPr/>
        </p:nvSpPr>
        <p:spPr>
          <a:xfrm>
            <a:off x="4123944" y="1417320"/>
            <a:ext cx="841248" cy="841248"/>
          </a:xfrm>
          <a:prstGeom prst="ellipse">
            <a:avLst/>
          </a:prstGeom>
          <a:solidFill>
            <a:srgbClr val="13B5EA"/>
          </a:solidFill>
          <a:ln/>
        </p:spPr>
      </p:sp>
      <p:pic>
        <p:nvPicPr>
          <p:cNvPr id="16" name="Image 2" descr="icons/decide.png">    </p:cNvPr>
          <p:cNvPicPr>
            <a:picLocks noChangeAspect="1"/>
          </p:cNvPicPr>
          <p:nvPr/>
        </p:nvPicPr>
        <p:blipFill>
          <a:blip r:embed="rId3"/>
          <a:stretch>
            <a:fillRect/>
          </a:stretch>
        </p:blipFill>
        <p:spPr>
          <a:xfrm>
            <a:off x="4342668" y="1636044"/>
            <a:ext cx="403799" cy="403799"/>
          </a:xfrm>
          <a:prstGeom prst="rect">
            <a:avLst/>
          </a:prstGeom>
        </p:spPr>
      </p:pic>
      <p:sp>
        <p:nvSpPr>
          <p:cNvPr id="17" name="Text 12"/>
          <p:cNvSpPr/>
          <p:nvPr/>
        </p:nvSpPr>
        <p:spPr>
          <a:xfrm>
            <a:off x="3749040" y="2368296"/>
            <a:ext cx="1591056" cy="320040"/>
          </a:xfrm>
          <a:prstGeom prst="rect">
            <a:avLst/>
          </a:prstGeom>
          <a:noFill/>
          <a:ln/>
        </p:spPr>
        <p:txBody>
          <a:bodyPr wrap="square" lIns="0" tIns="0" rIns="0" bIns="0" rtlCol="0" anchor="ctr"/>
          <a:lstStyle/>
          <a:p>
            <a:pPr algn="ctr" indent="0" marL="0">
              <a:buNone/>
            </a:pPr>
            <a:r>
              <a:rPr lang="en-US" sz="1500" b="1" dirty="0">
                <a:solidFill>
                  <a:srgbClr val="1B2733"/>
                </a:solidFill>
                <a:latin typeface="Inter" pitchFamily="34" charset="0"/>
                <a:ea typeface="Inter" pitchFamily="34" charset="-122"/>
                <a:cs typeface="Inter" pitchFamily="34" charset="-120"/>
              </a:rPr>
              <a:t>Decide</a:t>
            </a:r>
            <a:endParaRPr lang="en-US" sz="1500" dirty="0"/>
          </a:p>
        </p:txBody>
      </p:sp>
      <p:sp>
        <p:nvSpPr>
          <p:cNvPr id="18" name="Text 13"/>
          <p:cNvSpPr/>
          <p:nvPr/>
        </p:nvSpPr>
        <p:spPr>
          <a:xfrm>
            <a:off x="3785616" y="2715768"/>
            <a:ext cx="1517904" cy="1371600"/>
          </a:xfrm>
          <a:prstGeom prst="rect">
            <a:avLst/>
          </a:prstGeom>
          <a:noFill/>
          <a:ln/>
        </p:spPr>
        <p:txBody>
          <a:bodyPr wrap="square" lIns="0" tIns="0" rIns="0" bIns="0" rtlCol="0" anchor="t"/>
          <a:lstStyle/>
          <a:p>
            <a:pPr algn="ctr" indent="0" marL="0">
              <a:lnSpc>
                <a:spcPct val="112000"/>
              </a:lnSpc>
              <a:buNone/>
            </a:pPr>
            <a:r>
              <a:rPr lang="en-US" sz="1100" dirty="0">
                <a:solidFill>
                  <a:srgbClr val="5A6672"/>
                </a:solidFill>
                <a:latin typeface="Inter" pitchFamily="34" charset="0"/>
                <a:ea typeface="Inter" pitchFamily="34" charset="-122"/>
                <a:cs typeface="Inter" pitchFamily="34" charset="-120"/>
              </a:rPr>
              <a:t>Turns findings into a human approval queue</a:t>
            </a:r>
            <a:endParaRPr lang="en-US" sz="1100" dirty="0"/>
          </a:p>
        </p:txBody>
      </p:sp>
      <p:sp>
        <p:nvSpPr>
          <p:cNvPr id="19" name="Shape 14"/>
          <p:cNvSpPr/>
          <p:nvPr/>
        </p:nvSpPr>
        <p:spPr>
          <a:xfrm>
            <a:off x="5715000" y="1417320"/>
            <a:ext cx="841248" cy="841248"/>
          </a:xfrm>
          <a:prstGeom prst="ellipse">
            <a:avLst/>
          </a:prstGeom>
          <a:solidFill>
            <a:srgbClr val="13B5EA"/>
          </a:solidFill>
          <a:ln/>
        </p:spPr>
      </p:sp>
      <p:pic>
        <p:nvPicPr>
          <p:cNvPr id="20" name="Image 3" descr="icons/act.png">    </p:cNvPr>
          <p:cNvPicPr>
            <a:picLocks noChangeAspect="1"/>
          </p:cNvPicPr>
          <p:nvPr/>
        </p:nvPicPr>
        <p:blipFill>
          <a:blip r:embed="rId4"/>
          <a:stretch>
            <a:fillRect/>
          </a:stretch>
        </p:blipFill>
        <p:spPr>
          <a:xfrm>
            <a:off x="5933724" y="1636044"/>
            <a:ext cx="403799" cy="403799"/>
          </a:xfrm>
          <a:prstGeom prst="rect">
            <a:avLst/>
          </a:prstGeom>
        </p:spPr>
      </p:pic>
      <p:sp>
        <p:nvSpPr>
          <p:cNvPr id="21" name="Text 15"/>
          <p:cNvSpPr/>
          <p:nvPr/>
        </p:nvSpPr>
        <p:spPr>
          <a:xfrm>
            <a:off x="5340096" y="2368296"/>
            <a:ext cx="1591056" cy="320040"/>
          </a:xfrm>
          <a:prstGeom prst="rect">
            <a:avLst/>
          </a:prstGeom>
          <a:noFill/>
          <a:ln/>
        </p:spPr>
        <p:txBody>
          <a:bodyPr wrap="square" lIns="0" tIns="0" rIns="0" bIns="0" rtlCol="0" anchor="ctr"/>
          <a:lstStyle/>
          <a:p>
            <a:pPr algn="ctr" indent="0" marL="0">
              <a:buNone/>
            </a:pPr>
            <a:r>
              <a:rPr lang="en-US" sz="1500" b="1" dirty="0">
                <a:solidFill>
                  <a:srgbClr val="1B2733"/>
                </a:solidFill>
                <a:latin typeface="Inter" pitchFamily="34" charset="0"/>
                <a:ea typeface="Inter" pitchFamily="34" charset="-122"/>
                <a:cs typeface="Inter" pitchFamily="34" charset="-120"/>
              </a:rPr>
              <a:t>Act</a:t>
            </a:r>
            <a:endParaRPr lang="en-US" sz="1500" dirty="0"/>
          </a:p>
        </p:txBody>
      </p:sp>
      <p:sp>
        <p:nvSpPr>
          <p:cNvPr id="22" name="Text 16"/>
          <p:cNvSpPr/>
          <p:nvPr/>
        </p:nvSpPr>
        <p:spPr>
          <a:xfrm>
            <a:off x="5376672" y="2715768"/>
            <a:ext cx="1517904" cy="1371600"/>
          </a:xfrm>
          <a:prstGeom prst="rect">
            <a:avLst/>
          </a:prstGeom>
          <a:noFill/>
          <a:ln/>
        </p:spPr>
        <p:txBody>
          <a:bodyPr wrap="square" lIns="0" tIns="0" rIns="0" bIns="0" rtlCol="0" anchor="t"/>
          <a:lstStyle/>
          <a:p>
            <a:pPr algn="ctr" indent="0" marL="0">
              <a:lnSpc>
                <a:spcPct val="112000"/>
              </a:lnSpc>
              <a:buNone/>
            </a:pPr>
            <a:r>
              <a:rPr lang="en-US" sz="1100" dirty="0">
                <a:solidFill>
                  <a:srgbClr val="5A6672"/>
                </a:solidFill>
                <a:latin typeface="Inter" pitchFamily="34" charset="0"/>
                <a:ea typeface="Inter" pitchFamily="34" charset="-122"/>
                <a:cs typeface="Inter" pitchFamily="34" charset="-120"/>
              </a:rPr>
              <a:t>Approved actions create real DRAFT objects in Xero</a:t>
            </a:r>
            <a:endParaRPr lang="en-US" sz="1100" dirty="0"/>
          </a:p>
        </p:txBody>
      </p:sp>
      <p:sp>
        <p:nvSpPr>
          <p:cNvPr id="23" name="Shape 17"/>
          <p:cNvSpPr/>
          <p:nvPr/>
        </p:nvSpPr>
        <p:spPr>
          <a:xfrm>
            <a:off x="7306056" y="1417320"/>
            <a:ext cx="841248" cy="841248"/>
          </a:xfrm>
          <a:prstGeom prst="ellipse">
            <a:avLst/>
          </a:prstGeom>
          <a:solidFill>
            <a:srgbClr val="13B5EA"/>
          </a:solidFill>
          <a:ln/>
        </p:spPr>
      </p:sp>
      <p:pic>
        <p:nvPicPr>
          <p:cNvPr id="24" name="Image 4" descr="icons/learn.png">    </p:cNvPr>
          <p:cNvPicPr>
            <a:picLocks noChangeAspect="1"/>
          </p:cNvPicPr>
          <p:nvPr/>
        </p:nvPicPr>
        <p:blipFill>
          <a:blip r:embed="rId5"/>
          <a:stretch>
            <a:fillRect/>
          </a:stretch>
        </p:blipFill>
        <p:spPr>
          <a:xfrm>
            <a:off x="7524780" y="1636044"/>
            <a:ext cx="403799" cy="403799"/>
          </a:xfrm>
          <a:prstGeom prst="rect">
            <a:avLst/>
          </a:prstGeom>
        </p:spPr>
      </p:pic>
      <p:sp>
        <p:nvSpPr>
          <p:cNvPr id="25" name="Text 18"/>
          <p:cNvSpPr/>
          <p:nvPr/>
        </p:nvSpPr>
        <p:spPr>
          <a:xfrm>
            <a:off x="6931152" y="2368296"/>
            <a:ext cx="1591056" cy="320040"/>
          </a:xfrm>
          <a:prstGeom prst="rect">
            <a:avLst/>
          </a:prstGeom>
          <a:noFill/>
          <a:ln/>
        </p:spPr>
        <p:txBody>
          <a:bodyPr wrap="square" lIns="0" tIns="0" rIns="0" bIns="0" rtlCol="0" anchor="ctr"/>
          <a:lstStyle/>
          <a:p>
            <a:pPr algn="ctr" indent="0" marL="0">
              <a:buNone/>
            </a:pPr>
            <a:r>
              <a:rPr lang="en-US" sz="1500" b="1" dirty="0">
                <a:solidFill>
                  <a:srgbClr val="1B2733"/>
                </a:solidFill>
                <a:latin typeface="Inter" pitchFamily="34" charset="0"/>
                <a:ea typeface="Inter" pitchFamily="34" charset="-122"/>
                <a:cs typeface="Inter" pitchFamily="34" charset="-120"/>
              </a:rPr>
              <a:t>Learn</a:t>
            </a:r>
            <a:endParaRPr lang="en-US" sz="1500" dirty="0"/>
          </a:p>
        </p:txBody>
      </p:sp>
      <p:sp>
        <p:nvSpPr>
          <p:cNvPr id="26" name="Text 19"/>
          <p:cNvSpPr/>
          <p:nvPr/>
        </p:nvSpPr>
        <p:spPr>
          <a:xfrm>
            <a:off x="6967728" y="2715768"/>
            <a:ext cx="1517904" cy="1371600"/>
          </a:xfrm>
          <a:prstGeom prst="rect">
            <a:avLst/>
          </a:prstGeom>
          <a:noFill/>
          <a:ln/>
        </p:spPr>
        <p:txBody>
          <a:bodyPr wrap="square" lIns="0" tIns="0" rIns="0" bIns="0" rtlCol="0" anchor="t"/>
          <a:lstStyle/>
          <a:p>
            <a:pPr algn="ctr" indent="0" marL="0">
              <a:lnSpc>
                <a:spcPct val="112000"/>
              </a:lnSpc>
              <a:buNone/>
            </a:pPr>
            <a:r>
              <a:rPr lang="en-US" sz="1100" dirty="0">
                <a:solidFill>
                  <a:srgbClr val="5A6672"/>
                </a:solidFill>
                <a:latin typeface="Inter" pitchFamily="34" charset="0"/>
                <a:ea typeface="Inter" pitchFamily="34" charset="-122"/>
                <a:cs typeface="Inter" pitchFamily="34" charset="-120"/>
              </a:rPr>
              <a:t>Summarizes what was actually approved</a:t>
            </a:r>
            <a:endParaRPr lang="en-US" sz="1100" dirty="0"/>
          </a:p>
        </p:txBody>
      </p:sp>
      <p:sp>
        <p:nvSpPr>
          <p:cNvPr id="27" name="Shape 20"/>
          <p:cNvSpPr/>
          <p:nvPr/>
        </p:nvSpPr>
        <p:spPr>
          <a:xfrm>
            <a:off x="566928" y="4315968"/>
            <a:ext cx="8010144" cy="502920"/>
          </a:xfrm>
          <a:prstGeom prst="roundRect">
            <a:avLst>
              <a:gd name="adj" fmla="val 14545"/>
            </a:avLst>
          </a:prstGeom>
          <a:solidFill>
            <a:srgbClr val="1B2733"/>
          </a:solidFill>
          <a:ln/>
        </p:spPr>
      </p:sp>
      <p:sp>
        <p:nvSpPr>
          <p:cNvPr id="28" name="Text 21"/>
          <p:cNvSpPr/>
          <p:nvPr/>
        </p:nvSpPr>
        <p:spPr>
          <a:xfrm>
            <a:off x="640080" y="4315968"/>
            <a:ext cx="78638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Inter" pitchFamily="34" charset="0"/>
                <a:ea typeface="Inter" pitchFamily="34" charset="-122"/>
                <a:cs typeface="Inter" pitchFamily="34" charset="-120"/>
              </a:rPr>
              <a:t>Every step runs on live data from a real Xero Demo Company — nothing scripted, nothing faked.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733"/>
        </a:solidFill>
      </p:bgPr>
    </p:bg>
    <p:spTree>
      <p:nvGrpSpPr>
        <p:cNvPr id="1" name=""/>
        <p:cNvGrpSpPr/>
        <p:nvPr/>
      </p:nvGrpSpPr>
      <p:grpSpPr>
        <a:xfrm>
          <a:off x="0" y="0"/>
          <a:ext cx="0" cy="0"/>
          <a:chOff x="0" y="0"/>
          <a:chExt cx="0" cy="0"/>
        </a:xfrm>
      </p:grpSpPr>
      <p:sp>
        <p:nvSpPr>
          <p:cNvPr id="2" name="Text 0"/>
          <p:cNvSpPr/>
          <p:nvPr/>
        </p:nvSpPr>
        <p:spPr>
          <a:xfrm>
            <a:off x="640080" y="502920"/>
            <a:ext cx="7863840"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Inter" pitchFamily="34" charset="0"/>
                <a:ea typeface="Inter" pitchFamily="34" charset="-122"/>
                <a:cs typeface="Inter" pitchFamily="34" charset="-120"/>
              </a:rPr>
              <a:t>Let's watch it think</a:t>
            </a:r>
            <a:endParaRPr lang="en-US" sz="3400" dirty="0"/>
          </a:p>
        </p:txBody>
      </p:sp>
      <p:sp>
        <p:nvSpPr>
          <p:cNvPr id="3" name="Shape 1"/>
          <p:cNvSpPr/>
          <p:nvPr/>
        </p:nvSpPr>
        <p:spPr>
          <a:xfrm>
            <a:off x="1280160" y="1508760"/>
            <a:ext cx="6583680" cy="2651760"/>
          </a:xfrm>
          <a:prstGeom prst="roundRect">
            <a:avLst>
              <a:gd name="adj" fmla="val 2069"/>
            </a:avLst>
          </a:prstGeom>
          <a:solidFill>
            <a:srgbClr val="FFFFFF"/>
          </a:solidFill>
          <a:ln/>
          <a:effectLst>
            <a:outerShdw sx="100000" sy="100000" kx="0" ky="0" algn="bl" rotWithShape="0" blurRad="114300" dist="38100" dir="5400000">
              <a:srgbClr val="9AA5AE">
                <a:alpha val="28000"/>
              </a:srgbClr>
            </a:outerShdw>
          </a:effectLst>
        </p:spPr>
      </p:sp>
      <p:sp>
        <p:nvSpPr>
          <p:cNvPr id="4" name="Shape 2"/>
          <p:cNvSpPr/>
          <p:nvPr/>
        </p:nvSpPr>
        <p:spPr>
          <a:xfrm>
            <a:off x="1280160" y="1508760"/>
            <a:ext cx="6583680" cy="457200"/>
          </a:xfrm>
          <a:prstGeom prst="rect">
            <a:avLst/>
          </a:prstGeom>
          <a:solidFill>
            <a:srgbClr val="EDEFF2"/>
          </a:solidFill>
          <a:ln/>
        </p:spPr>
      </p:sp>
      <p:sp>
        <p:nvSpPr>
          <p:cNvPr id="5" name="Shape 3"/>
          <p:cNvSpPr/>
          <p:nvPr/>
        </p:nvSpPr>
        <p:spPr>
          <a:xfrm>
            <a:off x="1508760" y="1664208"/>
            <a:ext cx="146304" cy="146304"/>
          </a:xfrm>
          <a:prstGeom prst="ellipse">
            <a:avLst/>
          </a:prstGeom>
          <a:solidFill>
            <a:srgbClr val="FF5F57"/>
          </a:solidFill>
          <a:ln/>
        </p:spPr>
      </p:sp>
      <p:sp>
        <p:nvSpPr>
          <p:cNvPr id="6" name="Shape 4"/>
          <p:cNvSpPr/>
          <p:nvPr/>
        </p:nvSpPr>
        <p:spPr>
          <a:xfrm>
            <a:off x="1728216" y="1664208"/>
            <a:ext cx="146304" cy="146304"/>
          </a:xfrm>
          <a:prstGeom prst="ellipse">
            <a:avLst/>
          </a:prstGeom>
          <a:solidFill>
            <a:srgbClr val="FEBC2E"/>
          </a:solidFill>
          <a:ln/>
        </p:spPr>
      </p:sp>
      <p:sp>
        <p:nvSpPr>
          <p:cNvPr id="7" name="Shape 5"/>
          <p:cNvSpPr/>
          <p:nvPr/>
        </p:nvSpPr>
        <p:spPr>
          <a:xfrm>
            <a:off x="1947672" y="1664208"/>
            <a:ext cx="146304" cy="146304"/>
          </a:xfrm>
          <a:prstGeom prst="ellipse">
            <a:avLst/>
          </a:prstGeom>
          <a:solidFill>
            <a:srgbClr val="28C840"/>
          </a:solidFill>
          <a:ln/>
        </p:spPr>
      </p:sp>
      <p:sp>
        <p:nvSpPr>
          <p:cNvPr id="8" name="Text 6"/>
          <p:cNvSpPr/>
          <p:nvPr/>
        </p:nvSpPr>
        <p:spPr>
          <a:xfrm>
            <a:off x="2468880" y="1508760"/>
            <a:ext cx="5303520" cy="457200"/>
          </a:xfrm>
          <a:prstGeom prst="rect">
            <a:avLst/>
          </a:prstGeom>
          <a:noFill/>
          <a:ln/>
        </p:spPr>
        <p:txBody>
          <a:bodyPr wrap="square" lIns="0" tIns="0" rIns="0" bIns="0" rtlCol="0" anchor="ctr"/>
          <a:lstStyle/>
          <a:p>
            <a:pPr indent="0" marL="0">
              <a:buNone/>
            </a:pPr>
            <a:r>
              <a:rPr lang="en-US" sz="1150" b="1" dirty="0">
                <a:solidFill>
                  <a:srgbClr val="5A6672"/>
                </a:solidFill>
                <a:latin typeface="Inter" pitchFamily="34" charset="0"/>
                <a:ea typeface="Inter" pitchFamily="34" charset="-122"/>
                <a:cs typeface="Inter" pitchFamily="34" charset="-120"/>
              </a:rPr>
              <a:t>Agent Thinking  ·  Xero Demo Company</a:t>
            </a:r>
            <a:endParaRPr lang="en-US" sz="1150" dirty="0"/>
          </a:p>
        </p:txBody>
      </p:sp>
      <p:sp>
        <p:nvSpPr>
          <p:cNvPr id="9" name="Text 7"/>
          <p:cNvSpPr/>
          <p:nvPr/>
        </p:nvSpPr>
        <p:spPr>
          <a:xfrm>
            <a:off x="1508760" y="2103120"/>
            <a:ext cx="1179576" cy="274320"/>
          </a:xfrm>
          <a:prstGeom prst="rect">
            <a:avLst/>
          </a:prstGeom>
          <a:noFill/>
          <a:ln/>
        </p:spPr>
        <p:txBody>
          <a:bodyPr wrap="square" lIns="0" tIns="0" rIns="0" bIns="0" rtlCol="0" anchor="ctr"/>
          <a:lstStyle/>
          <a:p>
            <a:pPr algn="ctr" indent="0" marL="0">
              <a:buNone/>
            </a:pPr>
            <a:r>
              <a:rPr lang="en-US" sz="1050" b="1" dirty="0">
                <a:solidFill>
                  <a:srgbClr val="0E8FBD"/>
                </a:solidFill>
                <a:latin typeface="Inter" pitchFamily="34" charset="0"/>
                <a:ea typeface="Inter" pitchFamily="34" charset="-122"/>
                <a:cs typeface="Inter" pitchFamily="34" charset="-120"/>
              </a:rPr>
              <a:t>Observe</a:t>
            </a:r>
            <a:endParaRPr lang="en-US" sz="1050" dirty="0"/>
          </a:p>
        </p:txBody>
      </p:sp>
      <p:sp>
        <p:nvSpPr>
          <p:cNvPr id="10" name="Shape 8"/>
          <p:cNvSpPr/>
          <p:nvPr/>
        </p:nvSpPr>
        <p:spPr>
          <a:xfrm>
            <a:off x="1508760" y="2468880"/>
            <a:ext cx="1115568" cy="301752"/>
          </a:xfrm>
          <a:prstGeom prst="roundRect">
            <a:avLst>
              <a:gd name="adj" fmla="val 12121"/>
            </a:avLst>
          </a:prstGeom>
          <a:solidFill>
            <a:srgbClr val="E7F5FC"/>
          </a:solidFill>
          <a:ln/>
        </p:spPr>
      </p:sp>
      <p:sp>
        <p:nvSpPr>
          <p:cNvPr id="11" name="Shape 9"/>
          <p:cNvSpPr/>
          <p:nvPr/>
        </p:nvSpPr>
        <p:spPr>
          <a:xfrm>
            <a:off x="1508760" y="2852928"/>
            <a:ext cx="1115568" cy="301752"/>
          </a:xfrm>
          <a:prstGeom prst="roundRect">
            <a:avLst>
              <a:gd name="adj" fmla="val 12121"/>
            </a:avLst>
          </a:prstGeom>
          <a:solidFill>
            <a:srgbClr val="E7F5FC"/>
          </a:solidFill>
          <a:ln/>
        </p:spPr>
      </p:sp>
      <p:sp>
        <p:nvSpPr>
          <p:cNvPr id="12" name="Shape 10"/>
          <p:cNvSpPr/>
          <p:nvPr/>
        </p:nvSpPr>
        <p:spPr>
          <a:xfrm>
            <a:off x="1508760" y="3236976"/>
            <a:ext cx="1115568" cy="301752"/>
          </a:xfrm>
          <a:prstGeom prst="roundRect">
            <a:avLst>
              <a:gd name="adj" fmla="val 12121"/>
            </a:avLst>
          </a:prstGeom>
          <a:solidFill>
            <a:srgbClr val="E7F5FC"/>
          </a:solidFill>
          <a:ln/>
        </p:spPr>
      </p:sp>
      <p:sp>
        <p:nvSpPr>
          <p:cNvPr id="13" name="Text 11"/>
          <p:cNvSpPr/>
          <p:nvPr/>
        </p:nvSpPr>
        <p:spPr>
          <a:xfrm>
            <a:off x="2734056" y="2103120"/>
            <a:ext cx="1179576" cy="274320"/>
          </a:xfrm>
          <a:prstGeom prst="rect">
            <a:avLst/>
          </a:prstGeom>
          <a:noFill/>
          <a:ln/>
        </p:spPr>
        <p:txBody>
          <a:bodyPr wrap="square" lIns="0" tIns="0" rIns="0" bIns="0" rtlCol="0" anchor="ctr"/>
          <a:lstStyle/>
          <a:p>
            <a:pPr algn="ctr" indent="0" marL="0">
              <a:buNone/>
            </a:pPr>
            <a:r>
              <a:rPr lang="en-US" sz="1050" b="1" dirty="0">
                <a:solidFill>
                  <a:srgbClr val="AAB3BC"/>
                </a:solidFill>
                <a:latin typeface="Inter" pitchFamily="34" charset="0"/>
                <a:ea typeface="Inter" pitchFamily="34" charset="-122"/>
                <a:cs typeface="Inter" pitchFamily="34" charset="-120"/>
              </a:rPr>
              <a:t>Orient</a:t>
            </a:r>
            <a:endParaRPr lang="en-US" sz="1050" dirty="0"/>
          </a:p>
        </p:txBody>
      </p:sp>
      <p:sp>
        <p:nvSpPr>
          <p:cNvPr id="14" name="Shape 12"/>
          <p:cNvSpPr/>
          <p:nvPr/>
        </p:nvSpPr>
        <p:spPr>
          <a:xfrm>
            <a:off x="2734056" y="2468880"/>
            <a:ext cx="1115568" cy="301752"/>
          </a:xfrm>
          <a:prstGeom prst="roundRect">
            <a:avLst>
              <a:gd name="adj" fmla="val 12121"/>
            </a:avLst>
          </a:prstGeom>
          <a:solidFill>
            <a:srgbClr val="F2F4F6"/>
          </a:solidFill>
          <a:ln/>
        </p:spPr>
      </p:sp>
      <p:sp>
        <p:nvSpPr>
          <p:cNvPr id="15" name="Shape 13"/>
          <p:cNvSpPr/>
          <p:nvPr/>
        </p:nvSpPr>
        <p:spPr>
          <a:xfrm>
            <a:off x="2734056" y="2852928"/>
            <a:ext cx="1115568" cy="301752"/>
          </a:xfrm>
          <a:prstGeom prst="roundRect">
            <a:avLst>
              <a:gd name="adj" fmla="val 12121"/>
            </a:avLst>
          </a:prstGeom>
          <a:solidFill>
            <a:srgbClr val="F2F4F6"/>
          </a:solidFill>
          <a:ln/>
        </p:spPr>
      </p:sp>
      <p:sp>
        <p:nvSpPr>
          <p:cNvPr id="16" name="Shape 14"/>
          <p:cNvSpPr/>
          <p:nvPr/>
        </p:nvSpPr>
        <p:spPr>
          <a:xfrm>
            <a:off x="2734056" y="3236976"/>
            <a:ext cx="1115568" cy="301752"/>
          </a:xfrm>
          <a:prstGeom prst="roundRect">
            <a:avLst>
              <a:gd name="adj" fmla="val 12121"/>
            </a:avLst>
          </a:prstGeom>
          <a:solidFill>
            <a:srgbClr val="F2F4F6"/>
          </a:solidFill>
          <a:ln/>
        </p:spPr>
      </p:sp>
      <p:sp>
        <p:nvSpPr>
          <p:cNvPr id="17" name="Text 15"/>
          <p:cNvSpPr/>
          <p:nvPr/>
        </p:nvSpPr>
        <p:spPr>
          <a:xfrm>
            <a:off x="3959352" y="2103120"/>
            <a:ext cx="1179576" cy="274320"/>
          </a:xfrm>
          <a:prstGeom prst="rect">
            <a:avLst/>
          </a:prstGeom>
          <a:noFill/>
          <a:ln/>
        </p:spPr>
        <p:txBody>
          <a:bodyPr wrap="square" lIns="0" tIns="0" rIns="0" bIns="0" rtlCol="0" anchor="ctr"/>
          <a:lstStyle/>
          <a:p>
            <a:pPr algn="ctr" indent="0" marL="0">
              <a:buNone/>
            </a:pPr>
            <a:r>
              <a:rPr lang="en-US" sz="1050" b="1" dirty="0">
                <a:solidFill>
                  <a:srgbClr val="AAB3BC"/>
                </a:solidFill>
                <a:latin typeface="Inter" pitchFamily="34" charset="0"/>
                <a:ea typeface="Inter" pitchFamily="34" charset="-122"/>
                <a:cs typeface="Inter" pitchFamily="34" charset="-120"/>
              </a:rPr>
              <a:t>Decide</a:t>
            </a:r>
            <a:endParaRPr lang="en-US" sz="1050" dirty="0"/>
          </a:p>
        </p:txBody>
      </p:sp>
      <p:sp>
        <p:nvSpPr>
          <p:cNvPr id="18" name="Shape 16"/>
          <p:cNvSpPr/>
          <p:nvPr/>
        </p:nvSpPr>
        <p:spPr>
          <a:xfrm>
            <a:off x="3959352" y="2468880"/>
            <a:ext cx="1115568" cy="301752"/>
          </a:xfrm>
          <a:prstGeom prst="roundRect">
            <a:avLst>
              <a:gd name="adj" fmla="val 12121"/>
            </a:avLst>
          </a:prstGeom>
          <a:solidFill>
            <a:srgbClr val="F2F4F6"/>
          </a:solidFill>
          <a:ln/>
        </p:spPr>
      </p:sp>
      <p:sp>
        <p:nvSpPr>
          <p:cNvPr id="19" name="Shape 17"/>
          <p:cNvSpPr/>
          <p:nvPr/>
        </p:nvSpPr>
        <p:spPr>
          <a:xfrm>
            <a:off x="3959352" y="2852928"/>
            <a:ext cx="1115568" cy="301752"/>
          </a:xfrm>
          <a:prstGeom prst="roundRect">
            <a:avLst>
              <a:gd name="adj" fmla="val 12121"/>
            </a:avLst>
          </a:prstGeom>
          <a:solidFill>
            <a:srgbClr val="F2F4F6"/>
          </a:solidFill>
          <a:ln/>
        </p:spPr>
      </p:sp>
      <p:sp>
        <p:nvSpPr>
          <p:cNvPr id="20" name="Shape 18"/>
          <p:cNvSpPr/>
          <p:nvPr/>
        </p:nvSpPr>
        <p:spPr>
          <a:xfrm>
            <a:off x="3959352" y="3236976"/>
            <a:ext cx="1115568" cy="301752"/>
          </a:xfrm>
          <a:prstGeom prst="roundRect">
            <a:avLst>
              <a:gd name="adj" fmla="val 12121"/>
            </a:avLst>
          </a:prstGeom>
          <a:solidFill>
            <a:srgbClr val="F2F4F6"/>
          </a:solidFill>
          <a:ln/>
        </p:spPr>
      </p:sp>
      <p:sp>
        <p:nvSpPr>
          <p:cNvPr id="21" name="Text 19"/>
          <p:cNvSpPr/>
          <p:nvPr/>
        </p:nvSpPr>
        <p:spPr>
          <a:xfrm>
            <a:off x="5184648" y="2103120"/>
            <a:ext cx="1179576" cy="274320"/>
          </a:xfrm>
          <a:prstGeom prst="rect">
            <a:avLst/>
          </a:prstGeom>
          <a:noFill/>
          <a:ln/>
        </p:spPr>
        <p:txBody>
          <a:bodyPr wrap="square" lIns="0" tIns="0" rIns="0" bIns="0" rtlCol="0" anchor="ctr"/>
          <a:lstStyle/>
          <a:p>
            <a:pPr algn="ctr" indent="0" marL="0">
              <a:buNone/>
            </a:pPr>
            <a:r>
              <a:rPr lang="en-US" sz="1050" b="1" dirty="0">
                <a:solidFill>
                  <a:srgbClr val="AAB3BC"/>
                </a:solidFill>
                <a:latin typeface="Inter" pitchFamily="34" charset="0"/>
                <a:ea typeface="Inter" pitchFamily="34" charset="-122"/>
                <a:cs typeface="Inter" pitchFamily="34" charset="-120"/>
              </a:rPr>
              <a:t>Act</a:t>
            </a:r>
            <a:endParaRPr lang="en-US" sz="1050" dirty="0"/>
          </a:p>
        </p:txBody>
      </p:sp>
      <p:sp>
        <p:nvSpPr>
          <p:cNvPr id="22" name="Shape 20"/>
          <p:cNvSpPr/>
          <p:nvPr/>
        </p:nvSpPr>
        <p:spPr>
          <a:xfrm>
            <a:off x="5184648" y="2468880"/>
            <a:ext cx="1115568" cy="301752"/>
          </a:xfrm>
          <a:prstGeom prst="roundRect">
            <a:avLst>
              <a:gd name="adj" fmla="val 12121"/>
            </a:avLst>
          </a:prstGeom>
          <a:solidFill>
            <a:srgbClr val="F2F4F6"/>
          </a:solidFill>
          <a:ln/>
        </p:spPr>
      </p:sp>
      <p:sp>
        <p:nvSpPr>
          <p:cNvPr id="23" name="Shape 21"/>
          <p:cNvSpPr/>
          <p:nvPr/>
        </p:nvSpPr>
        <p:spPr>
          <a:xfrm>
            <a:off x="5184648" y="2852928"/>
            <a:ext cx="1115568" cy="301752"/>
          </a:xfrm>
          <a:prstGeom prst="roundRect">
            <a:avLst>
              <a:gd name="adj" fmla="val 12121"/>
            </a:avLst>
          </a:prstGeom>
          <a:solidFill>
            <a:srgbClr val="F2F4F6"/>
          </a:solidFill>
          <a:ln/>
        </p:spPr>
      </p:sp>
      <p:sp>
        <p:nvSpPr>
          <p:cNvPr id="24" name="Shape 22"/>
          <p:cNvSpPr/>
          <p:nvPr/>
        </p:nvSpPr>
        <p:spPr>
          <a:xfrm>
            <a:off x="5184648" y="3236976"/>
            <a:ext cx="1115568" cy="301752"/>
          </a:xfrm>
          <a:prstGeom prst="roundRect">
            <a:avLst>
              <a:gd name="adj" fmla="val 12121"/>
            </a:avLst>
          </a:prstGeom>
          <a:solidFill>
            <a:srgbClr val="F2F4F6"/>
          </a:solidFill>
          <a:ln/>
        </p:spPr>
      </p:sp>
      <p:sp>
        <p:nvSpPr>
          <p:cNvPr id="25" name="Text 23"/>
          <p:cNvSpPr/>
          <p:nvPr/>
        </p:nvSpPr>
        <p:spPr>
          <a:xfrm>
            <a:off x="6409944" y="2103120"/>
            <a:ext cx="1179576" cy="274320"/>
          </a:xfrm>
          <a:prstGeom prst="rect">
            <a:avLst/>
          </a:prstGeom>
          <a:noFill/>
          <a:ln/>
        </p:spPr>
        <p:txBody>
          <a:bodyPr wrap="square" lIns="0" tIns="0" rIns="0" bIns="0" rtlCol="0" anchor="ctr"/>
          <a:lstStyle/>
          <a:p>
            <a:pPr algn="ctr" indent="0" marL="0">
              <a:buNone/>
            </a:pPr>
            <a:r>
              <a:rPr lang="en-US" sz="1050" b="1" dirty="0">
                <a:solidFill>
                  <a:srgbClr val="AAB3BC"/>
                </a:solidFill>
                <a:latin typeface="Inter" pitchFamily="34" charset="0"/>
                <a:ea typeface="Inter" pitchFamily="34" charset="-122"/>
                <a:cs typeface="Inter" pitchFamily="34" charset="-120"/>
              </a:rPr>
              <a:t>Learn</a:t>
            </a:r>
            <a:endParaRPr lang="en-US" sz="1050" dirty="0"/>
          </a:p>
        </p:txBody>
      </p:sp>
      <p:sp>
        <p:nvSpPr>
          <p:cNvPr id="26" name="Shape 24"/>
          <p:cNvSpPr/>
          <p:nvPr/>
        </p:nvSpPr>
        <p:spPr>
          <a:xfrm>
            <a:off x="6409944" y="2468880"/>
            <a:ext cx="1115568" cy="301752"/>
          </a:xfrm>
          <a:prstGeom prst="roundRect">
            <a:avLst>
              <a:gd name="adj" fmla="val 12121"/>
            </a:avLst>
          </a:prstGeom>
          <a:solidFill>
            <a:srgbClr val="F2F4F6"/>
          </a:solidFill>
          <a:ln/>
        </p:spPr>
      </p:sp>
      <p:sp>
        <p:nvSpPr>
          <p:cNvPr id="27" name="Shape 25"/>
          <p:cNvSpPr/>
          <p:nvPr/>
        </p:nvSpPr>
        <p:spPr>
          <a:xfrm>
            <a:off x="6409944" y="2852928"/>
            <a:ext cx="1115568" cy="301752"/>
          </a:xfrm>
          <a:prstGeom prst="roundRect">
            <a:avLst>
              <a:gd name="adj" fmla="val 12121"/>
            </a:avLst>
          </a:prstGeom>
          <a:solidFill>
            <a:srgbClr val="F2F4F6"/>
          </a:solidFill>
          <a:ln/>
        </p:spPr>
      </p:sp>
      <p:sp>
        <p:nvSpPr>
          <p:cNvPr id="28" name="Shape 26"/>
          <p:cNvSpPr/>
          <p:nvPr/>
        </p:nvSpPr>
        <p:spPr>
          <a:xfrm>
            <a:off x="6409944" y="3236976"/>
            <a:ext cx="1115568" cy="301752"/>
          </a:xfrm>
          <a:prstGeom prst="roundRect">
            <a:avLst>
              <a:gd name="adj" fmla="val 12121"/>
            </a:avLst>
          </a:prstGeom>
          <a:solidFill>
            <a:srgbClr val="F2F4F6"/>
          </a:solidFill>
          <a:ln/>
        </p:spPr>
      </p:sp>
      <p:sp>
        <p:nvSpPr>
          <p:cNvPr id="29" name="Shape 27"/>
          <p:cNvSpPr/>
          <p:nvPr/>
        </p:nvSpPr>
        <p:spPr>
          <a:xfrm>
            <a:off x="4187952" y="3657600"/>
            <a:ext cx="768096" cy="768096"/>
          </a:xfrm>
          <a:prstGeom prst="ellipse">
            <a:avLst/>
          </a:prstGeom>
          <a:solidFill>
            <a:srgbClr val="13B5EA"/>
          </a:solidFill>
          <a:ln/>
        </p:spPr>
      </p:sp>
      <p:pic>
        <p:nvPicPr>
          <p:cNvPr id="30" name="Image 0" descr="icons/play.png">    </p:cNvPr>
          <p:cNvPicPr>
            <a:picLocks noChangeAspect="1"/>
          </p:cNvPicPr>
          <p:nvPr/>
        </p:nvPicPr>
        <p:blipFill>
          <a:blip r:embed="rId1"/>
          <a:stretch>
            <a:fillRect/>
          </a:stretch>
        </p:blipFill>
        <p:spPr>
          <a:xfrm>
            <a:off x="4387657" y="3857305"/>
            <a:ext cx="368686" cy="368686"/>
          </a:xfrm>
          <a:prstGeom prst="rect">
            <a:avLst/>
          </a:prstGeom>
        </p:spPr>
      </p:pic>
      <p:sp>
        <p:nvSpPr>
          <p:cNvPr id="31" name="Text 28"/>
          <p:cNvSpPr/>
          <p:nvPr/>
        </p:nvSpPr>
        <p:spPr>
          <a:xfrm>
            <a:off x="640080" y="4343400"/>
            <a:ext cx="7863840" cy="457200"/>
          </a:xfrm>
          <a:prstGeom prst="rect">
            <a:avLst/>
          </a:prstGeom>
          <a:noFill/>
          <a:ln/>
        </p:spPr>
        <p:txBody>
          <a:bodyPr wrap="square" lIns="0" tIns="0" rIns="0" bIns="0" rtlCol="0" anchor="ctr"/>
          <a:lstStyle/>
          <a:p>
            <a:pPr algn="ctr" indent="0" marL="0">
              <a:buNone/>
            </a:pPr>
            <a:r>
              <a:rPr lang="en-US" sz="1300" i="1" dirty="0">
                <a:solidFill>
                  <a:srgbClr val="C4CDD5"/>
                </a:solidFill>
                <a:latin typeface="Inter" pitchFamily="34" charset="0"/>
                <a:ea typeface="Inter" pitchFamily="34" charset="-122"/>
                <a:cs typeface="Inter" pitchFamily="34" charset="-120"/>
              </a:rPr>
              <a:t>Switch to the live app — pulling from a real Xero Demo Company, right now.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2800" b="1" dirty="0">
                <a:solidFill>
                  <a:srgbClr val="1B2733"/>
                </a:solidFill>
                <a:latin typeface="Inter" pitchFamily="34" charset="0"/>
                <a:ea typeface="Inter" pitchFamily="34" charset="-122"/>
                <a:cs typeface="Inter" pitchFamily="34" charset="-120"/>
              </a:rPr>
              <a:t>We didn't assume the API — we tested it</a:t>
            </a:r>
            <a:endParaRPr lang="en-US" sz="2800" dirty="0"/>
          </a:p>
        </p:txBody>
      </p:sp>
      <p:sp>
        <p:nvSpPr>
          <p:cNvPr id="3" name="Shape 1"/>
          <p:cNvSpPr/>
          <p:nvPr/>
        </p:nvSpPr>
        <p:spPr>
          <a:xfrm>
            <a:off x="548640" y="1371600"/>
            <a:ext cx="3904488" cy="2880360"/>
          </a:xfrm>
          <a:prstGeom prst="roundRect">
            <a:avLst>
              <a:gd name="adj" fmla="val 2857"/>
            </a:avLst>
          </a:prstGeom>
          <a:solidFill>
            <a:srgbClr val="FFFFFF"/>
          </a:solidFill>
          <a:ln/>
          <a:effectLst>
            <a:outerShdw sx="100000" sy="100000" kx="0" ky="0" algn="bl" rotWithShape="0" blurRad="114300" dist="38100" dir="5400000">
              <a:srgbClr val="9AA5AE">
                <a:alpha val="28000"/>
              </a:srgbClr>
            </a:outerShdw>
          </a:effectLst>
        </p:spPr>
      </p:sp>
      <p:pic>
        <p:nvPicPr>
          <p:cNvPr id="4" name="Image 0" descr="icons/found.png">    </p:cNvPr>
          <p:cNvPicPr>
            <a:picLocks noChangeAspect="1"/>
          </p:cNvPicPr>
          <p:nvPr/>
        </p:nvPicPr>
        <p:blipFill>
          <a:blip r:embed="rId1"/>
          <a:stretch>
            <a:fillRect/>
          </a:stretch>
        </p:blipFill>
        <p:spPr>
          <a:xfrm>
            <a:off x="822960" y="1627632"/>
            <a:ext cx="365760" cy="365760"/>
          </a:xfrm>
          <a:prstGeom prst="rect">
            <a:avLst/>
          </a:prstGeom>
        </p:spPr>
      </p:pic>
      <p:sp>
        <p:nvSpPr>
          <p:cNvPr id="5" name="Text 2"/>
          <p:cNvSpPr/>
          <p:nvPr/>
        </p:nvSpPr>
        <p:spPr>
          <a:xfrm>
            <a:off x="1298448" y="1627632"/>
            <a:ext cx="2990088" cy="365760"/>
          </a:xfrm>
          <a:prstGeom prst="rect">
            <a:avLst/>
          </a:prstGeom>
          <a:noFill/>
          <a:ln/>
        </p:spPr>
        <p:txBody>
          <a:bodyPr wrap="square" lIns="0" tIns="0" rIns="0" bIns="0" rtlCol="0" anchor="ctr"/>
          <a:lstStyle/>
          <a:p>
            <a:pPr indent="0" marL="0">
              <a:buNone/>
            </a:pPr>
            <a:r>
              <a:rPr lang="en-US" sz="1600" b="1" dirty="0">
                <a:solidFill>
                  <a:srgbClr val="D97706"/>
                </a:solidFill>
                <a:latin typeface="Inter" pitchFamily="34" charset="0"/>
                <a:ea typeface="Inter" pitchFamily="34" charset="-122"/>
                <a:cs typeface="Inter" pitchFamily="34" charset="-120"/>
              </a:rPr>
              <a:t>What we found</a:t>
            </a:r>
            <a:endParaRPr lang="en-US" sz="1600" dirty="0"/>
          </a:p>
        </p:txBody>
      </p:sp>
      <p:sp>
        <p:nvSpPr>
          <p:cNvPr id="6" name="Text 3"/>
          <p:cNvSpPr/>
          <p:nvPr/>
        </p:nvSpPr>
        <p:spPr>
          <a:xfrm>
            <a:off x="868680" y="2194560"/>
            <a:ext cx="3310128" cy="1920240"/>
          </a:xfrm>
          <a:prstGeom prst="rect">
            <a:avLst/>
          </a:prstGeom>
          <a:noFill/>
          <a:ln/>
        </p:spPr>
        <p:txBody>
          <a:bodyPr wrap="square" lIns="0" tIns="0" rIns="0" bIns="0" rtlCol="0" anchor="ctr"/>
          <a:lstStyle/>
          <a:p>
            <a:pPr marL="177800" indent="-177800">
              <a:lnSpc>
                <a:spcPct val="110000"/>
              </a:lnSpc>
              <a:spcAft>
                <a:spcPts val="800"/>
              </a:spcAft>
              <a:buSzPct val="100000"/>
              <a:buChar char="•"/>
            </a:pPr>
            <a:r>
              <a:rPr lang="en-US" sz="1300" dirty="0">
                <a:solidFill>
                  <a:srgbClr val="1B2733"/>
                </a:solidFill>
                <a:latin typeface="Inter" pitchFamily="34" charset="0"/>
                <a:ea typeface="Inter" pitchFamily="34" charset="-122"/>
                <a:cs typeface="Inter" pitchFamily="34" charset="-120"/>
              </a:rPr>
              <a:t>List endpoints return formatted text, not JSON</a:t>
            </a:r>
            <a:endParaRPr lang="en-US" sz="1300" dirty="0"/>
          </a:p>
          <a:p>
            <a:pPr marL="177800" indent="-177800">
              <a:lnSpc>
                <a:spcPct val="110000"/>
              </a:lnSpc>
              <a:spcAft>
                <a:spcPts val="800"/>
              </a:spcAft>
              <a:buSzPct val="100000"/>
              <a:buChar char="•"/>
            </a:pPr>
            <a:r>
              <a:rPr lang="en-US" sz="1300" dirty="0">
                <a:solidFill>
                  <a:srgbClr val="1B2733"/>
                </a:solidFill>
                <a:latin typeface="Inter" pitchFamily="34" charset="0"/>
                <a:ea typeface="Inter" pitchFamily="34" charset="-122"/>
                <a:cs typeface="Inter" pitchFamily="34" charset="-120"/>
              </a:rPr>
              <a:t>P&amp;L reports cap at 11 periods, not 12</a:t>
            </a:r>
            <a:endParaRPr lang="en-US" sz="1300" dirty="0"/>
          </a:p>
          <a:p>
            <a:pPr marL="177800" indent="-177800">
              <a:lnSpc>
                <a:spcPct val="110000"/>
              </a:lnSpc>
              <a:buSzPct val="100000"/>
              <a:buChar char="•"/>
            </a:pPr>
            <a:r>
              <a:rPr lang="en-US" sz="1300" dirty="0">
                <a:solidFill>
                  <a:srgbClr val="1B2733"/>
                </a:solidFill>
                <a:latin typeface="Inter" pitchFamily="34" charset="0"/>
                <a:ea typeface="Inter" pitchFamily="34" charset="-122"/>
                <a:cs typeface="Inter" pitchFamily="34" charset="-120"/>
              </a:rPr>
              <a:t>No idempotency key on writes — so we built our own duplicate-submission guard</a:t>
            </a:r>
            <a:endParaRPr lang="en-US" sz="1300" dirty="0"/>
          </a:p>
        </p:txBody>
      </p:sp>
      <p:sp>
        <p:nvSpPr>
          <p:cNvPr id="7" name="Shape 4"/>
          <p:cNvSpPr/>
          <p:nvPr/>
        </p:nvSpPr>
        <p:spPr>
          <a:xfrm>
            <a:off x="4690872" y="1371600"/>
            <a:ext cx="3904488" cy="2880360"/>
          </a:xfrm>
          <a:prstGeom prst="roundRect">
            <a:avLst>
              <a:gd name="adj" fmla="val 2857"/>
            </a:avLst>
          </a:prstGeom>
          <a:solidFill>
            <a:srgbClr val="FFFFFF"/>
          </a:solidFill>
          <a:ln/>
          <a:effectLst>
            <a:outerShdw sx="100000" sy="100000" kx="0" ky="0" algn="bl" rotWithShape="0" blurRad="114300" dist="38100" dir="5400000">
              <a:srgbClr val="9AA5AE">
                <a:alpha val="28000"/>
              </a:srgbClr>
            </a:outerShdw>
          </a:effectLst>
        </p:spPr>
      </p:sp>
      <p:pic>
        <p:nvPicPr>
          <p:cNvPr id="8" name="Image 1" descr="icons/verified.png">    </p:cNvPr>
          <p:cNvPicPr>
            <a:picLocks noChangeAspect="1"/>
          </p:cNvPicPr>
          <p:nvPr/>
        </p:nvPicPr>
        <p:blipFill>
          <a:blip r:embed="rId2"/>
          <a:stretch>
            <a:fillRect/>
          </a:stretch>
        </p:blipFill>
        <p:spPr>
          <a:xfrm>
            <a:off x="4965192" y="1627632"/>
            <a:ext cx="365760" cy="365760"/>
          </a:xfrm>
          <a:prstGeom prst="rect">
            <a:avLst/>
          </a:prstGeom>
        </p:spPr>
      </p:pic>
      <p:sp>
        <p:nvSpPr>
          <p:cNvPr id="9" name="Text 5"/>
          <p:cNvSpPr/>
          <p:nvPr/>
        </p:nvSpPr>
        <p:spPr>
          <a:xfrm>
            <a:off x="5440680" y="1627632"/>
            <a:ext cx="2990088" cy="365760"/>
          </a:xfrm>
          <a:prstGeom prst="rect">
            <a:avLst/>
          </a:prstGeom>
          <a:noFill/>
          <a:ln/>
        </p:spPr>
        <p:txBody>
          <a:bodyPr wrap="square" lIns="0" tIns="0" rIns="0" bIns="0" rtlCol="0" anchor="ctr"/>
          <a:lstStyle/>
          <a:p>
            <a:pPr indent="0" marL="0">
              <a:buNone/>
            </a:pPr>
            <a:r>
              <a:rPr lang="en-US" sz="1600" b="1" dirty="0">
                <a:solidFill>
                  <a:srgbClr val="16A34A"/>
                </a:solidFill>
                <a:latin typeface="Inter" pitchFamily="34" charset="0"/>
                <a:ea typeface="Inter" pitchFamily="34" charset="-122"/>
                <a:cs typeface="Inter" pitchFamily="34" charset="-120"/>
              </a:rPr>
              <a:t>What we verified</a:t>
            </a:r>
            <a:endParaRPr lang="en-US" sz="1600" dirty="0"/>
          </a:p>
        </p:txBody>
      </p:sp>
      <p:sp>
        <p:nvSpPr>
          <p:cNvPr id="10" name="Shape 6"/>
          <p:cNvSpPr/>
          <p:nvPr/>
        </p:nvSpPr>
        <p:spPr>
          <a:xfrm>
            <a:off x="5010912" y="2212848"/>
            <a:ext cx="3264408" cy="1234440"/>
          </a:xfrm>
          <a:prstGeom prst="roundRect">
            <a:avLst>
              <a:gd name="adj" fmla="val 5185"/>
            </a:avLst>
          </a:prstGeom>
          <a:solidFill>
            <a:srgbClr val="E8F6ED"/>
          </a:solidFill>
          <a:ln/>
        </p:spPr>
      </p:sp>
      <p:sp>
        <p:nvSpPr>
          <p:cNvPr id="11" name="Text 7"/>
          <p:cNvSpPr/>
          <p:nvPr/>
        </p:nvSpPr>
        <p:spPr>
          <a:xfrm>
            <a:off x="5193792" y="2331720"/>
            <a:ext cx="2898648" cy="457200"/>
          </a:xfrm>
          <a:prstGeom prst="rect">
            <a:avLst/>
          </a:prstGeom>
          <a:noFill/>
          <a:ln/>
        </p:spPr>
        <p:txBody>
          <a:bodyPr wrap="square" lIns="0" tIns="0" rIns="0" bIns="0" rtlCol="0" anchor="ctr"/>
          <a:lstStyle/>
          <a:p>
            <a:pPr indent="0" marL="0">
              <a:buNone/>
            </a:pPr>
            <a:r>
              <a:rPr lang="en-US" sz="1350" b="1" dirty="0">
                <a:solidFill>
                  <a:srgbClr val="1B2733"/>
                </a:solidFill>
                <a:latin typeface="Inter" pitchFamily="34" charset="0"/>
                <a:ea typeface="Inter" pitchFamily="34" charset="-122"/>
                <a:cs typeface="Inter" pitchFamily="34" charset="-120"/>
              </a:rPr>
              <a:t>DRAFT quote</a:t>
            </a:r>
            <a:pPr indent="0" marL="0">
              <a:buNone/>
            </a:pPr>
            <a:r>
              <a:rPr lang="en-US" sz="1350" dirty="0">
                <a:solidFill>
                  <a:srgbClr val="1B2733"/>
                </a:solidFill>
                <a:latin typeface="Inter" pitchFamily="34" charset="0"/>
                <a:ea typeface="Inter" pitchFamily="34" charset="-122"/>
                <a:cs typeface="Inter" pitchFamily="34" charset="-120"/>
              </a:rPr>
              <a:t>  created live in the Demo Company</a:t>
            </a:r>
            <a:endParaRPr lang="en-US" sz="1350" dirty="0"/>
          </a:p>
        </p:txBody>
      </p:sp>
      <p:sp>
        <p:nvSpPr>
          <p:cNvPr id="12" name="Text 8"/>
          <p:cNvSpPr/>
          <p:nvPr/>
        </p:nvSpPr>
        <p:spPr>
          <a:xfrm>
            <a:off x="5193792" y="2761488"/>
            <a:ext cx="2898648" cy="594360"/>
          </a:xfrm>
          <a:prstGeom prst="rect">
            <a:avLst/>
          </a:prstGeom>
          <a:noFill/>
          <a:ln/>
        </p:spPr>
        <p:txBody>
          <a:bodyPr wrap="square" lIns="0" tIns="0" rIns="0" bIns="0" rtlCol="0" anchor="ctr"/>
          <a:lstStyle/>
          <a:p>
            <a:pPr indent="0" marL="0">
              <a:lnSpc>
                <a:spcPct val="110000"/>
              </a:lnSpc>
              <a:buNone/>
            </a:pPr>
            <a:r>
              <a:rPr lang="en-US" sz="1150" dirty="0">
                <a:solidFill>
                  <a:srgbClr val="5A6672"/>
                </a:solidFill>
                <a:latin typeface="Inter" pitchFamily="34" charset="0"/>
                <a:ea typeface="Inter" pitchFamily="34" charset="-122"/>
                <a:cs typeface="Inter" pitchFamily="34" charset="-120"/>
              </a:rPr>
              <a:t>Real deep link, actual DRAFT status — screenshotted from Xero itself.</a:t>
            </a:r>
            <a:endParaRPr lang="en-US" sz="1150" dirty="0"/>
          </a:p>
        </p:txBody>
      </p:sp>
      <p:sp>
        <p:nvSpPr>
          <p:cNvPr id="13" name="Text 9"/>
          <p:cNvSpPr/>
          <p:nvPr/>
        </p:nvSpPr>
        <p:spPr>
          <a:xfrm>
            <a:off x="5010912" y="3611880"/>
            <a:ext cx="3264408" cy="502920"/>
          </a:xfrm>
          <a:prstGeom prst="rect">
            <a:avLst/>
          </a:prstGeom>
          <a:noFill/>
          <a:ln/>
        </p:spPr>
        <p:txBody>
          <a:bodyPr wrap="square" lIns="0" tIns="0" rIns="0" bIns="0" rtlCol="0" anchor="ctr"/>
          <a:lstStyle/>
          <a:p>
            <a:pPr indent="0" marL="0">
              <a:buNone/>
            </a:pPr>
            <a:r>
              <a:rPr lang="en-US" sz="1200" i="1" dirty="0">
                <a:solidFill>
                  <a:srgbClr val="1B2733"/>
                </a:solidFill>
                <a:latin typeface="Inter" pitchFamily="34" charset="0"/>
                <a:ea typeface="Inter" pitchFamily="34" charset="-122"/>
                <a:cs typeface="Inter" pitchFamily="34" charset="-120"/>
              </a:rPr>
              <a:t>Nothing in the demo is hard-coded or faked.</a:t>
            </a:r>
            <a:endParaRPr lang="en-US" sz="1200" dirty="0"/>
          </a:p>
        </p:txBody>
      </p:sp>
      <p:sp>
        <p:nvSpPr>
          <p:cNvPr id="14" name="Text 10"/>
          <p:cNvSpPr/>
          <p:nvPr/>
        </p:nvSpPr>
        <p:spPr>
          <a:xfrm>
            <a:off x="548640" y="4434840"/>
            <a:ext cx="8046720" cy="365760"/>
          </a:xfrm>
          <a:prstGeom prst="rect">
            <a:avLst/>
          </a:prstGeom>
          <a:noFill/>
          <a:ln/>
        </p:spPr>
        <p:txBody>
          <a:bodyPr wrap="square" lIns="0" tIns="0" rIns="0" bIns="0" rtlCol="0" anchor="ctr"/>
          <a:lstStyle/>
          <a:p>
            <a:pPr algn="ctr" indent="0" marL="0">
              <a:buNone/>
            </a:pPr>
            <a:r>
              <a:rPr lang="en-US" sz="1250" b="1" dirty="0">
                <a:solidFill>
                  <a:srgbClr val="0E8FBD"/>
                </a:solidFill>
                <a:latin typeface="Inter" pitchFamily="34" charset="0"/>
                <a:ea typeface="Inter" pitchFamily="34" charset="-122"/>
                <a:cs typeface="Inter" pitchFamily="34" charset="-120"/>
              </a:rPr>
              <a:t>No fabricated numbers — every gap is labeled honestly in the UI.</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548640" y="438912"/>
            <a:ext cx="658368" cy="658368"/>
          </a:xfrm>
          <a:prstGeom prst="ellipse">
            <a:avLst/>
          </a:prstGeom>
          <a:solidFill>
            <a:srgbClr val="13B5EA"/>
          </a:solidFill>
          <a:ln/>
        </p:spPr>
      </p:sp>
      <p:pic>
        <p:nvPicPr>
          <p:cNvPr id="3" name="Image 0" descr="icons/shield_w.png">    </p:cNvPr>
          <p:cNvPicPr>
            <a:picLocks noChangeAspect="1"/>
          </p:cNvPicPr>
          <p:nvPr/>
        </p:nvPicPr>
        <p:blipFill>
          <a:blip r:embed="rId1"/>
          <a:stretch>
            <a:fillRect/>
          </a:stretch>
        </p:blipFill>
        <p:spPr>
          <a:xfrm>
            <a:off x="719816" y="610088"/>
            <a:ext cx="316017" cy="316017"/>
          </a:xfrm>
          <a:prstGeom prst="rect">
            <a:avLst/>
          </a:prstGeom>
        </p:spPr>
      </p:pic>
      <p:sp>
        <p:nvSpPr>
          <p:cNvPr id="4" name="Text 1"/>
          <p:cNvSpPr/>
          <p:nvPr/>
        </p:nvSpPr>
        <p:spPr>
          <a:xfrm>
            <a:off x="1325880" y="457200"/>
            <a:ext cx="7223760" cy="640080"/>
          </a:xfrm>
          <a:prstGeom prst="rect">
            <a:avLst/>
          </a:prstGeom>
          <a:noFill/>
          <a:ln/>
        </p:spPr>
        <p:txBody>
          <a:bodyPr wrap="square" lIns="0" tIns="0" rIns="0" bIns="0" rtlCol="0" anchor="ctr"/>
          <a:lstStyle/>
          <a:p>
            <a:pPr indent="0" marL="0">
              <a:buNone/>
            </a:pPr>
            <a:r>
              <a:rPr lang="en-US" sz="3000" b="1" dirty="0">
                <a:solidFill>
                  <a:srgbClr val="1B2733"/>
                </a:solidFill>
                <a:latin typeface="Inter" pitchFamily="34" charset="0"/>
                <a:ea typeface="Inter" pitchFamily="34" charset="-122"/>
                <a:cs typeface="Inter" pitchFamily="34" charset="-120"/>
              </a:rPr>
              <a:t>Autonomous, but never reckless</a:t>
            </a:r>
            <a:endParaRPr lang="en-US" sz="3000" dirty="0"/>
          </a:p>
        </p:txBody>
      </p:sp>
      <p:sp>
        <p:nvSpPr>
          <p:cNvPr id="5" name="Shape 2"/>
          <p:cNvSpPr/>
          <p:nvPr/>
        </p:nvSpPr>
        <p:spPr>
          <a:xfrm>
            <a:off x="548640" y="1371600"/>
            <a:ext cx="3904488" cy="1371600"/>
          </a:xfrm>
          <a:prstGeom prst="roundRect">
            <a:avLst>
              <a:gd name="adj" fmla="val 6000"/>
            </a:avLst>
          </a:prstGeom>
          <a:solidFill>
            <a:srgbClr val="FFFFFF"/>
          </a:solidFill>
          <a:ln/>
          <a:effectLst>
            <a:outerShdw sx="100000" sy="100000" kx="0" ky="0" algn="bl" rotWithShape="0" blurRad="114300" dist="38100" dir="5400000">
              <a:srgbClr val="9AA5AE">
                <a:alpha val="28000"/>
              </a:srgbClr>
            </a:outerShdw>
          </a:effectLst>
        </p:spPr>
      </p:sp>
      <p:sp>
        <p:nvSpPr>
          <p:cNvPr id="6" name="Shape 3"/>
          <p:cNvSpPr/>
          <p:nvPr/>
        </p:nvSpPr>
        <p:spPr>
          <a:xfrm>
            <a:off x="841248" y="1664208"/>
            <a:ext cx="777240" cy="777240"/>
          </a:xfrm>
          <a:prstGeom prst="ellipse">
            <a:avLst/>
          </a:prstGeom>
          <a:solidFill>
            <a:srgbClr val="13B5EA"/>
          </a:solidFill>
          <a:ln/>
        </p:spPr>
      </p:sp>
      <p:pic>
        <p:nvPicPr>
          <p:cNvPr id="7" name="Image 1" descr="icons/draft.png">    </p:cNvPr>
          <p:cNvPicPr>
            <a:picLocks noChangeAspect="1"/>
          </p:cNvPicPr>
          <p:nvPr/>
        </p:nvPicPr>
        <p:blipFill>
          <a:blip r:embed="rId2"/>
          <a:stretch>
            <a:fillRect/>
          </a:stretch>
        </p:blipFill>
        <p:spPr>
          <a:xfrm>
            <a:off x="1043330" y="1866290"/>
            <a:ext cx="373075" cy="373075"/>
          </a:xfrm>
          <a:prstGeom prst="rect">
            <a:avLst/>
          </a:prstGeom>
        </p:spPr>
      </p:pic>
      <p:sp>
        <p:nvSpPr>
          <p:cNvPr id="8" name="Text 4"/>
          <p:cNvSpPr/>
          <p:nvPr/>
        </p:nvSpPr>
        <p:spPr>
          <a:xfrm>
            <a:off x="1783080" y="1645920"/>
            <a:ext cx="2487168" cy="411480"/>
          </a:xfrm>
          <a:prstGeom prst="rect">
            <a:avLst/>
          </a:prstGeom>
          <a:noFill/>
          <a:ln/>
        </p:spPr>
        <p:txBody>
          <a:bodyPr wrap="square" lIns="0" tIns="0" rIns="0" bIns="0" rtlCol="0" anchor="ctr"/>
          <a:lstStyle/>
          <a:p>
            <a:pPr indent="0" marL="0">
              <a:buNone/>
            </a:pPr>
            <a:r>
              <a:rPr lang="en-US" sz="1600" b="1" dirty="0">
                <a:solidFill>
                  <a:srgbClr val="1B2733"/>
                </a:solidFill>
                <a:latin typeface="Inter" pitchFamily="34" charset="0"/>
                <a:ea typeface="Inter" pitchFamily="34" charset="-122"/>
                <a:cs typeface="Inter" pitchFamily="34" charset="-120"/>
              </a:rPr>
              <a:t>Every write is DRAFT</a:t>
            </a:r>
            <a:endParaRPr lang="en-US" sz="1600" dirty="0"/>
          </a:p>
        </p:txBody>
      </p:sp>
      <p:sp>
        <p:nvSpPr>
          <p:cNvPr id="9" name="Text 5"/>
          <p:cNvSpPr/>
          <p:nvPr/>
        </p:nvSpPr>
        <p:spPr>
          <a:xfrm>
            <a:off x="1783080" y="2057400"/>
            <a:ext cx="2487168" cy="548640"/>
          </a:xfrm>
          <a:prstGeom prst="rect">
            <a:avLst/>
          </a:prstGeom>
          <a:noFill/>
          <a:ln/>
        </p:spPr>
        <p:txBody>
          <a:bodyPr wrap="square" lIns="0" tIns="0" rIns="0" bIns="0" rtlCol="0" anchor="ctr"/>
          <a:lstStyle/>
          <a:p>
            <a:pPr indent="0" marL="0">
              <a:lnSpc>
                <a:spcPct val="110000"/>
              </a:lnSpc>
              <a:buNone/>
            </a:pPr>
            <a:r>
              <a:rPr lang="en-US" sz="1200" dirty="0">
                <a:solidFill>
                  <a:srgbClr val="5A6672"/>
                </a:solidFill>
                <a:latin typeface="Inter" pitchFamily="34" charset="0"/>
                <a:ea typeface="Inter" pitchFamily="34" charset="-122"/>
                <a:cs typeface="Inter" pitchFamily="34" charset="-120"/>
              </a:rPr>
              <a:t>Never authorised, never a payment.</a:t>
            </a:r>
            <a:endParaRPr lang="en-US" sz="1200" dirty="0"/>
          </a:p>
        </p:txBody>
      </p:sp>
      <p:sp>
        <p:nvSpPr>
          <p:cNvPr id="10" name="Shape 6"/>
          <p:cNvSpPr/>
          <p:nvPr/>
        </p:nvSpPr>
        <p:spPr>
          <a:xfrm>
            <a:off x="4690872" y="1371600"/>
            <a:ext cx="3904488" cy="1371600"/>
          </a:xfrm>
          <a:prstGeom prst="roundRect">
            <a:avLst>
              <a:gd name="adj" fmla="val 6000"/>
            </a:avLst>
          </a:prstGeom>
          <a:solidFill>
            <a:srgbClr val="FFFFFF"/>
          </a:solidFill>
          <a:ln/>
          <a:effectLst>
            <a:outerShdw sx="100000" sy="100000" kx="0" ky="0" algn="bl" rotWithShape="0" blurRad="114300" dist="38100" dir="5400000">
              <a:srgbClr val="9AA5AE">
                <a:alpha val="28000"/>
              </a:srgbClr>
            </a:outerShdw>
          </a:effectLst>
        </p:spPr>
      </p:sp>
      <p:sp>
        <p:nvSpPr>
          <p:cNvPr id="11" name="Shape 7"/>
          <p:cNvSpPr/>
          <p:nvPr/>
        </p:nvSpPr>
        <p:spPr>
          <a:xfrm>
            <a:off x="4983480" y="1664208"/>
            <a:ext cx="777240" cy="777240"/>
          </a:xfrm>
          <a:prstGeom prst="ellipse">
            <a:avLst/>
          </a:prstGeom>
          <a:solidFill>
            <a:srgbClr val="13B5EA"/>
          </a:solidFill>
          <a:ln/>
        </p:spPr>
      </p:sp>
      <p:pic>
        <p:nvPicPr>
          <p:cNvPr id="12" name="Image 2" descr="icons/hand.png">    </p:cNvPr>
          <p:cNvPicPr>
            <a:picLocks noChangeAspect="1"/>
          </p:cNvPicPr>
          <p:nvPr/>
        </p:nvPicPr>
        <p:blipFill>
          <a:blip r:embed="rId3"/>
          <a:stretch>
            <a:fillRect/>
          </a:stretch>
        </p:blipFill>
        <p:spPr>
          <a:xfrm>
            <a:off x="5185562" y="1866290"/>
            <a:ext cx="373075" cy="373075"/>
          </a:xfrm>
          <a:prstGeom prst="rect">
            <a:avLst/>
          </a:prstGeom>
        </p:spPr>
      </p:pic>
      <p:sp>
        <p:nvSpPr>
          <p:cNvPr id="13" name="Text 8"/>
          <p:cNvSpPr/>
          <p:nvPr/>
        </p:nvSpPr>
        <p:spPr>
          <a:xfrm>
            <a:off x="5925312" y="1645920"/>
            <a:ext cx="2487168" cy="411480"/>
          </a:xfrm>
          <a:prstGeom prst="rect">
            <a:avLst/>
          </a:prstGeom>
          <a:noFill/>
          <a:ln/>
        </p:spPr>
        <p:txBody>
          <a:bodyPr wrap="square" lIns="0" tIns="0" rIns="0" bIns="0" rtlCol="0" anchor="ctr"/>
          <a:lstStyle/>
          <a:p>
            <a:pPr indent="0" marL="0">
              <a:buNone/>
            </a:pPr>
            <a:r>
              <a:rPr lang="en-US" sz="1600" b="1" dirty="0">
                <a:solidFill>
                  <a:srgbClr val="1B2733"/>
                </a:solidFill>
                <a:latin typeface="Inter" pitchFamily="34" charset="0"/>
                <a:ea typeface="Inter" pitchFamily="34" charset="-122"/>
                <a:cs typeface="Inter" pitchFamily="34" charset="-120"/>
              </a:rPr>
              <a:t>Human approval required</a:t>
            </a:r>
            <a:endParaRPr lang="en-US" sz="1600" dirty="0"/>
          </a:p>
        </p:txBody>
      </p:sp>
      <p:sp>
        <p:nvSpPr>
          <p:cNvPr id="14" name="Text 9"/>
          <p:cNvSpPr/>
          <p:nvPr/>
        </p:nvSpPr>
        <p:spPr>
          <a:xfrm>
            <a:off x="5925312" y="2057400"/>
            <a:ext cx="2487168" cy="548640"/>
          </a:xfrm>
          <a:prstGeom prst="rect">
            <a:avLst/>
          </a:prstGeom>
          <a:noFill/>
          <a:ln/>
        </p:spPr>
        <p:txBody>
          <a:bodyPr wrap="square" lIns="0" tIns="0" rIns="0" bIns="0" rtlCol="0" anchor="ctr"/>
          <a:lstStyle/>
          <a:p>
            <a:pPr indent="0" marL="0">
              <a:lnSpc>
                <a:spcPct val="110000"/>
              </a:lnSpc>
              <a:buNone/>
            </a:pPr>
            <a:r>
              <a:rPr lang="en-US" sz="1200" dirty="0">
                <a:solidFill>
                  <a:srgbClr val="5A6672"/>
                </a:solidFill>
                <a:latin typeface="Inter" pitchFamily="34" charset="0"/>
                <a:ea typeface="Inter" pitchFamily="34" charset="-122"/>
                <a:cs typeface="Inter" pitchFamily="34" charset="-120"/>
              </a:rPr>
              <a:t>Nothing auto-executes — every action needs a click.</a:t>
            </a:r>
            <a:endParaRPr lang="en-US" sz="1200" dirty="0"/>
          </a:p>
        </p:txBody>
      </p:sp>
      <p:sp>
        <p:nvSpPr>
          <p:cNvPr id="15" name="Shape 10"/>
          <p:cNvSpPr/>
          <p:nvPr/>
        </p:nvSpPr>
        <p:spPr>
          <a:xfrm>
            <a:off x="548640" y="2971800"/>
            <a:ext cx="3904488" cy="1371600"/>
          </a:xfrm>
          <a:prstGeom prst="roundRect">
            <a:avLst>
              <a:gd name="adj" fmla="val 6000"/>
            </a:avLst>
          </a:prstGeom>
          <a:solidFill>
            <a:srgbClr val="FFFFFF"/>
          </a:solidFill>
          <a:ln/>
          <a:effectLst>
            <a:outerShdw sx="100000" sy="100000" kx="0" ky="0" algn="bl" rotWithShape="0" blurRad="114300" dist="38100" dir="5400000">
              <a:srgbClr val="9AA5AE">
                <a:alpha val="28000"/>
              </a:srgbClr>
            </a:outerShdw>
          </a:effectLst>
        </p:spPr>
      </p:sp>
      <p:sp>
        <p:nvSpPr>
          <p:cNvPr id="16" name="Shape 11"/>
          <p:cNvSpPr/>
          <p:nvPr/>
        </p:nvSpPr>
        <p:spPr>
          <a:xfrm>
            <a:off x="841248" y="3264408"/>
            <a:ext cx="777240" cy="777240"/>
          </a:xfrm>
          <a:prstGeom prst="ellipse">
            <a:avLst/>
          </a:prstGeom>
          <a:solidFill>
            <a:srgbClr val="13B5EA"/>
          </a:solidFill>
          <a:ln/>
        </p:spPr>
      </p:sp>
      <p:pic>
        <p:nvPicPr>
          <p:cNvPr id="17" name="Image 3" descr="icons/noemail.png">    </p:cNvPr>
          <p:cNvPicPr>
            <a:picLocks noChangeAspect="1"/>
          </p:cNvPicPr>
          <p:nvPr/>
        </p:nvPicPr>
        <p:blipFill>
          <a:blip r:embed="rId4"/>
          <a:stretch>
            <a:fillRect/>
          </a:stretch>
        </p:blipFill>
        <p:spPr>
          <a:xfrm>
            <a:off x="1043330" y="3466490"/>
            <a:ext cx="373075" cy="373075"/>
          </a:xfrm>
          <a:prstGeom prst="rect">
            <a:avLst/>
          </a:prstGeom>
        </p:spPr>
      </p:pic>
      <p:sp>
        <p:nvSpPr>
          <p:cNvPr id="18" name="Text 12"/>
          <p:cNvSpPr/>
          <p:nvPr/>
        </p:nvSpPr>
        <p:spPr>
          <a:xfrm>
            <a:off x="1783080" y="3246120"/>
            <a:ext cx="2487168" cy="411480"/>
          </a:xfrm>
          <a:prstGeom prst="rect">
            <a:avLst/>
          </a:prstGeom>
          <a:noFill/>
          <a:ln/>
        </p:spPr>
        <p:txBody>
          <a:bodyPr wrap="square" lIns="0" tIns="0" rIns="0" bIns="0" rtlCol="0" anchor="ctr"/>
          <a:lstStyle/>
          <a:p>
            <a:pPr indent="0" marL="0">
              <a:buNone/>
            </a:pPr>
            <a:r>
              <a:rPr lang="en-US" sz="1600" b="1" dirty="0">
                <a:solidFill>
                  <a:srgbClr val="1B2733"/>
                </a:solidFill>
                <a:latin typeface="Inter" pitchFamily="34" charset="0"/>
                <a:ea typeface="Inter" pitchFamily="34" charset="-122"/>
                <a:cs typeface="Inter" pitchFamily="34" charset="-120"/>
              </a:rPr>
              <a:t>No email is ever sent</a:t>
            </a:r>
            <a:endParaRPr lang="en-US" sz="1600" dirty="0"/>
          </a:p>
        </p:txBody>
      </p:sp>
      <p:sp>
        <p:nvSpPr>
          <p:cNvPr id="19" name="Text 13"/>
          <p:cNvSpPr/>
          <p:nvPr/>
        </p:nvSpPr>
        <p:spPr>
          <a:xfrm>
            <a:off x="1783080" y="3657600"/>
            <a:ext cx="2487168" cy="548640"/>
          </a:xfrm>
          <a:prstGeom prst="rect">
            <a:avLst/>
          </a:prstGeom>
          <a:noFill/>
          <a:ln/>
        </p:spPr>
        <p:txBody>
          <a:bodyPr wrap="square" lIns="0" tIns="0" rIns="0" bIns="0" rtlCol="0" anchor="ctr"/>
          <a:lstStyle/>
          <a:p>
            <a:pPr indent="0" marL="0">
              <a:lnSpc>
                <a:spcPct val="110000"/>
              </a:lnSpc>
              <a:buNone/>
            </a:pPr>
            <a:r>
              <a:rPr lang="en-US" sz="1200" dirty="0">
                <a:solidFill>
                  <a:srgbClr val="5A6672"/>
                </a:solidFill>
                <a:latin typeface="Inter" pitchFamily="34" charset="0"/>
                <a:ea typeface="Inter" pitchFamily="34" charset="-122"/>
                <a:cs typeface="Inter" pitchFamily="34" charset="-120"/>
              </a:rPr>
              <a:t>Drafted text only, for a human to send.</a:t>
            </a:r>
            <a:endParaRPr lang="en-US" sz="1200" dirty="0"/>
          </a:p>
        </p:txBody>
      </p:sp>
      <p:sp>
        <p:nvSpPr>
          <p:cNvPr id="20" name="Shape 14"/>
          <p:cNvSpPr/>
          <p:nvPr/>
        </p:nvSpPr>
        <p:spPr>
          <a:xfrm>
            <a:off x="4690872" y="2971800"/>
            <a:ext cx="3904488" cy="1371600"/>
          </a:xfrm>
          <a:prstGeom prst="roundRect">
            <a:avLst>
              <a:gd name="adj" fmla="val 6000"/>
            </a:avLst>
          </a:prstGeom>
          <a:solidFill>
            <a:srgbClr val="FFFFFF"/>
          </a:solidFill>
          <a:ln/>
          <a:effectLst>
            <a:outerShdw sx="100000" sy="100000" kx="0" ky="0" algn="bl" rotWithShape="0" blurRad="114300" dist="38100" dir="5400000">
              <a:srgbClr val="9AA5AE">
                <a:alpha val="28000"/>
              </a:srgbClr>
            </a:outerShdw>
          </a:effectLst>
        </p:spPr>
      </p:sp>
      <p:sp>
        <p:nvSpPr>
          <p:cNvPr id="21" name="Shape 15"/>
          <p:cNvSpPr/>
          <p:nvPr/>
        </p:nvSpPr>
        <p:spPr>
          <a:xfrm>
            <a:off x="4983480" y="3264408"/>
            <a:ext cx="777240" cy="777240"/>
          </a:xfrm>
          <a:prstGeom prst="ellipse">
            <a:avLst/>
          </a:prstGeom>
          <a:solidFill>
            <a:srgbClr val="13B5EA"/>
          </a:solidFill>
          <a:ln/>
        </p:spPr>
      </p:sp>
      <p:pic>
        <p:nvPicPr>
          <p:cNvPr id="22" name="Image 4" descr="icons/lock.png">    </p:cNvPr>
          <p:cNvPicPr>
            <a:picLocks noChangeAspect="1"/>
          </p:cNvPicPr>
          <p:nvPr/>
        </p:nvPicPr>
        <p:blipFill>
          <a:blip r:embed="rId5"/>
          <a:stretch>
            <a:fillRect/>
          </a:stretch>
        </p:blipFill>
        <p:spPr>
          <a:xfrm>
            <a:off x="5185562" y="3466490"/>
            <a:ext cx="373075" cy="373075"/>
          </a:xfrm>
          <a:prstGeom prst="rect">
            <a:avLst/>
          </a:prstGeom>
        </p:spPr>
      </p:pic>
      <p:sp>
        <p:nvSpPr>
          <p:cNvPr id="23" name="Text 16"/>
          <p:cNvSpPr/>
          <p:nvPr/>
        </p:nvSpPr>
        <p:spPr>
          <a:xfrm>
            <a:off x="5925312" y="3246120"/>
            <a:ext cx="2487168" cy="411480"/>
          </a:xfrm>
          <a:prstGeom prst="rect">
            <a:avLst/>
          </a:prstGeom>
          <a:noFill/>
          <a:ln/>
        </p:spPr>
        <p:txBody>
          <a:bodyPr wrap="square" lIns="0" tIns="0" rIns="0" bIns="0" rtlCol="0" anchor="ctr"/>
          <a:lstStyle/>
          <a:p>
            <a:pPr indent="0" marL="0">
              <a:buNone/>
            </a:pPr>
            <a:r>
              <a:rPr lang="en-US" sz="1600" b="1" dirty="0">
                <a:solidFill>
                  <a:srgbClr val="1B2733"/>
                </a:solidFill>
                <a:latin typeface="Inter" pitchFamily="34" charset="0"/>
                <a:ea typeface="Inter" pitchFamily="34" charset="-122"/>
                <a:cs typeface="Inter" pitchFamily="34" charset="-120"/>
              </a:rPr>
              <a:t>Secrets stay server-side</a:t>
            </a:r>
            <a:endParaRPr lang="en-US" sz="1600" dirty="0"/>
          </a:p>
        </p:txBody>
      </p:sp>
      <p:sp>
        <p:nvSpPr>
          <p:cNvPr id="24" name="Text 17"/>
          <p:cNvSpPr/>
          <p:nvPr/>
        </p:nvSpPr>
        <p:spPr>
          <a:xfrm>
            <a:off x="5925312" y="3657600"/>
            <a:ext cx="2487168" cy="548640"/>
          </a:xfrm>
          <a:prstGeom prst="rect">
            <a:avLst/>
          </a:prstGeom>
          <a:noFill/>
          <a:ln/>
        </p:spPr>
        <p:txBody>
          <a:bodyPr wrap="square" lIns="0" tIns="0" rIns="0" bIns="0" rtlCol="0" anchor="ctr"/>
          <a:lstStyle/>
          <a:p>
            <a:pPr indent="0" marL="0">
              <a:lnSpc>
                <a:spcPct val="110000"/>
              </a:lnSpc>
              <a:buNone/>
            </a:pPr>
            <a:r>
              <a:rPr lang="en-US" sz="1200" dirty="0">
                <a:solidFill>
                  <a:srgbClr val="5A6672"/>
                </a:solidFill>
                <a:latin typeface="Inter" pitchFamily="34" charset="0"/>
                <a:ea typeface="Inter" pitchFamily="34" charset="-122"/>
                <a:cs typeface="Inter" pitchFamily="34" charset="-120"/>
              </a:rPr>
              <a:t>No Xero secret ever reaches the browser.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000" b="1" dirty="0">
                <a:solidFill>
                  <a:srgbClr val="1B2733"/>
                </a:solidFill>
                <a:latin typeface="Inter" pitchFamily="34" charset="0"/>
                <a:ea typeface="Inter" pitchFamily="34" charset="-122"/>
                <a:cs typeface="Inter" pitchFamily="34" charset="-120"/>
              </a:rPr>
              <a:t>Under the hood</a:t>
            </a:r>
            <a:endParaRPr lang="en-US" sz="3000" dirty="0"/>
          </a:p>
        </p:txBody>
      </p:sp>
      <p:sp>
        <p:nvSpPr>
          <p:cNvPr id="3" name="Shape 1"/>
          <p:cNvSpPr/>
          <p:nvPr/>
        </p:nvSpPr>
        <p:spPr>
          <a:xfrm>
            <a:off x="640080" y="1600200"/>
            <a:ext cx="2377440" cy="2148840"/>
          </a:xfrm>
          <a:prstGeom prst="roundRect">
            <a:avLst>
              <a:gd name="adj" fmla="val 4255"/>
            </a:avLst>
          </a:prstGeom>
          <a:solidFill>
            <a:srgbClr val="FFFFFF"/>
          </a:solidFill>
          <a:ln/>
          <a:effectLst>
            <a:outerShdw sx="100000" sy="100000" kx="0" ky="0" algn="bl" rotWithShape="0" blurRad="114300" dist="38100" dir="5400000">
              <a:srgbClr val="9AA5AE">
                <a:alpha val="28000"/>
              </a:srgbClr>
            </a:outerShdw>
          </a:effectLst>
        </p:spPr>
      </p:sp>
      <p:sp>
        <p:nvSpPr>
          <p:cNvPr id="4" name="Shape 2"/>
          <p:cNvSpPr/>
          <p:nvPr/>
        </p:nvSpPr>
        <p:spPr>
          <a:xfrm>
            <a:off x="1371600" y="1920240"/>
            <a:ext cx="914400" cy="914400"/>
          </a:xfrm>
          <a:prstGeom prst="ellipse">
            <a:avLst/>
          </a:prstGeom>
          <a:solidFill>
            <a:srgbClr val="13B5EA"/>
          </a:solidFill>
          <a:ln/>
        </p:spPr>
      </p:sp>
      <p:pic>
        <p:nvPicPr>
          <p:cNvPr id="5" name="Image 0" descr="icons/react.png">    </p:cNvPr>
          <p:cNvPicPr>
            <a:picLocks noChangeAspect="1"/>
          </p:cNvPicPr>
          <p:nvPr/>
        </p:nvPicPr>
        <p:blipFill>
          <a:blip r:embed="rId1"/>
          <a:stretch>
            <a:fillRect/>
          </a:stretch>
        </p:blipFill>
        <p:spPr>
          <a:xfrm>
            <a:off x="1609344" y="2157984"/>
            <a:ext cx="438912" cy="438912"/>
          </a:xfrm>
          <a:prstGeom prst="rect">
            <a:avLst/>
          </a:prstGeom>
        </p:spPr>
      </p:pic>
      <p:sp>
        <p:nvSpPr>
          <p:cNvPr id="6" name="Text 3"/>
          <p:cNvSpPr/>
          <p:nvPr/>
        </p:nvSpPr>
        <p:spPr>
          <a:xfrm>
            <a:off x="731520" y="2926080"/>
            <a:ext cx="2194560" cy="365760"/>
          </a:xfrm>
          <a:prstGeom prst="rect">
            <a:avLst/>
          </a:prstGeom>
          <a:noFill/>
          <a:ln/>
        </p:spPr>
        <p:txBody>
          <a:bodyPr wrap="square" lIns="0" tIns="0" rIns="0" bIns="0" rtlCol="0" anchor="ctr"/>
          <a:lstStyle/>
          <a:p>
            <a:pPr algn="ctr" indent="0" marL="0">
              <a:buNone/>
            </a:pPr>
            <a:r>
              <a:rPr lang="en-US" sz="1550" b="1" dirty="0">
                <a:solidFill>
                  <a:srgbClr val="1B2733"/>
                </a:solidFill>
                <a:latin typeface="Inter" pitchFamily="34" charset="0"/>
                <a:ea typeface="Inter" pitchFamily="34" charset="-122"/>
                <a:cs typeface="Inter" pitchFamily="34" charset="-120"/>
              </a:rPr>
              <a:t>React frontend</a:t>
            </a:r>
            <a:endParaRPr lang="en-US" sz="1550" dirty="0"/>
          </a:p>
        </p:txBody>
      </p:sp>
      <p:sp>
        <p:nvSpPr>
          <p:cNvPr id="7" name="Text 4"/>
          <p:cNvSpPr/>
          <p:nvPr/>
        </p:nvSpPr>
        <p:spPr>
          <a:xfrm>
            <a:off x="777240" y="3291840"/>
            <a:ext cx="2103120" cy="457200"/>
          </a:xfrm>
          <a:prstGeom prst="rect">
            <a:avLst/>
          </a:prstGeom>
          <a:noFill/>
          <a:ln/>
        </p:spPr>
        <p:txBody>
          <a:bodyPr wrap="square" lIns="0" tIns="0" rIns="0" bIns="0" rtlCol="0" anchor="ctr"/>
          <a:lstStyle/>
          <a:p>
            <a:pPr algn="ctr" indent="0" marL="0">
              <a:lnSpc>
                <a:spcPct val="110000"/>
              </a:lnSpc>
              <a:buNone/>
            </a:pPr>
            <a:r>
              <a:rPr lang="en-US" sz="1150" dirty="0">
                <a:solidFill>
                  <a:srgbClr val="5A6672"/>
                </a:solidFill>
                <a:latin typeface="Inter" pitchFamily="34" charset="0"/>
                <a:ea typeface="Inter" pitchFamily="34" charset="-122"/>
                <a:cs typeface="Inter" pitchFamily="34" charset="-120"/>
              </a:rPr>
              <a:t>Streams live over SSE</a:t>
            </a:r>
            <a:endParaRPr lang="en-US" sz="1150" dirty="0"/>
          </a:p>
        </p:txBody>
      </p:sp>
      <p:sp>
        <p:nvSpPr>
          <p:cNvPr id="8" name="Shape 5"/>
          <p:cNvSpPr/>
          <p:nvPr/>
        </p:nvSpPr>
        <p:spPr>
          <a:xfrm>
            <a:off x="3090672" y="2674620"/>
            <a:ext cx="402336" cy="0"/>
          </a:xfrm>
          <a:prstGeom prst="line">
            <a:avLst/>
          </a:prstGeom>
          <a:noFill/>
          <a:ln w="31750">
            <a:solidFill>
              <a:srgbClr val="13B5EA"/>
            </a:solidFill>
            <a:prstDash val="solid"/>
            <a:tailEnd type="triangle"/>
          </a:ln>
        </p:spPr>
      </p:sp>
      <p:sp>
        <p:nvSpPr>
          <p:cNvPr id="9" name="Shape 6"/>
          <p:cNvSpPr/>
          <p:nvPr/>
        </p:nvSpPr>
        <p:spPr>
          <a:xfrm>
            <a:off x="3566160" y="1600200"/>
            <a:ext cx="2377440" cy="2148840"/>
          </a:xfrm>
          <a:prstGeom prst="roundRect">
            <a:avLst>
              <a:gd name="adj" fmla="val 4255"/>
            </a:avLst>
          </a:prstGeom>
          <a:solidFill>
            <a:srgbClr val="FFFFFF"/>
          </a:solidFill>
          <a:ln/>
          <a:effectLst>
            <a:outerShdw sx="100000" sy="100000" kx="0" ky="0" algn="bl" rotWithShape="0" blurRad="114300" dist="38100" dir="5400000">
              <a:srgbClr val="9AA5AE">
                <a:alpha val="28000"/>
              </a:srgbClr>
            </a:outerShdw>
          </a:effectLst>
        </p:spPr>
      </p:sp>
      <p:sp>
        <p:nvSpPr>
          <p:cNvPr id="10" name="Shape 7"/>
          <p:cNvSpPr/>
          <p:nvPr/>
        </p:nvSpPr>
        <p:spPr>
          <a:xfrm>
            <a:off x="4297680" y="1920240"/>
            <a:ext cx="914400" cy="914400"/>
          </a:xfrm>
          <a:prstGeom prst="ellipse">
            <a:avLst/>
          </a:prstGeom>
          <a:solidFill>
            <a:srgbClr val="13B5EA"/>
          </a:solidFill>
          <a:ln/>
        </p:spPr>
      </p:sp>
      <p:pic>
        <p:nvPicPr>
          <p:cNvPr id="11" name="Image 1" descr="icons/server.png">    </p:cNvPr>
          <p:cNvPicPr>
            <a:picLocks noChangeAspect="1"/>
          </p:cNvPicPr>
          <p:nvPr/>
        </p:nvPicPr>
        <p:blipFill>
          <a:blip r:embed="rId2"/>
          <a:stretch>
            <a:fillRect/>
          </a:stretch>
        </p:blipFill>
        <p:spPr>
          <a:xfrm>
            <a:off x="4535424" y="2157984"/>
            <a:ext cx="438912" cy="438912"/>
          </a:xfrm>
          <a:prstGeom prst="rect">
            <a:avLst/>
          </a:prstGeom>
        </p:spPr>
      </p:pic>
      <p:sp>
        <p:nvSpPr>
          <p:cNvPr id="12" name="Text 8"/>
          <p:cNvSpPr/>
          <p:nvPr/>
        </p:nvSpPr>
        <p:spPr>
          <a:xfrm>
            <a:off x="3657600" y="2926080"/>
            <a:ext cx="2194560" cy="365760"/>
          </a:xfrm>
          <a:prstGeom prst="rect">
            <a:avLst/>
          </a:prstGeom>
          <a:noFill/>
          <a:ln/>
        </p:spPr>
        <p:txBody>
          <a:bodyPr wrap="square" lIns="0" tIns="0" rIns="0" bIns="0" rtlCol="0" anchor="ctr"/>
          <a:lstStyle/>
          <a:p>
            <a:pPr algn="ctr" indent="0" marL="0">
              <a:buNone/>
            </a:pPr>
            <a:r>
              <a:rPr lang="en-US" sz="1550" b="1" dirty="0">
                <a:solidFill>
                  <a:srgbClr val="1B2733"/>
                </a:solidFill>
                <a:latin typeface="Inter" pitchFamily="34" charset="0"/>
                <a:ea typeface="Inter" pitchFamily="34" charset="-122"/>
                <a:cs typeface="Inter" pitchFamily="34" charset="-120"/>
              </a:rPr>
              <a:t>Fastify backend</a:t>
            </a:r>
            <a:endParaRPr lang="en-US" sz="1550" dirty="0"/>
          </a:p>
        </p:txBody>
      </p:sp>
      <p:sp>
        <p:nvSpPr>
          <p:cNvPr id="13" name="Text 9"/>
          <p:cNvSpPr/>
          <p:nvPr/>
        </p:nvSpPr>
        <p:spPr>
          <a:xfrm>
            <a:off x="3703320" y="3291840"/>
            <a:ext cx="2103120" cy="457200"/>
          </a:xfrm>
          <a:prstGeom prst="rect">
            <a:avLst/>
          </a:prstGeom>
          <a:noFill/>
          <a:ln/>
        </p:spPr>
        <p:txBody>
          <a:bodyPr wrap="square" lIns="0" tIns="0" rIns="0" bIns="0" rtlCol="0" anchor="ctr"/>
          <a:lstStyle/>
          <a:p>
            <a:pPr algn="ctr" indent="0" marL="0">
              <a:lnSpc>
                <a:spcPct val="110000"/>
              </a:lnSpc>
              <a:buNone/>
            </a:pPr>
            <a:r>
              <a:rPr lang="en-US" sz="1150" dirty="0">
                <a:solidFill>
                  <a:srgbClr val="5A6672"/>
                </a:solidFill>
                <a:latin typeface="Inter" pitchFamily="34" charset="0"/>
                <a:ea typeface="Inter" pitchFamily="34" charset="-122"/>
                <a:cs typeface="Inter" pitchFamily="34" charset="-120"/>
              </a:rPr>
              <a:t>Runs Observe · Orient · Decide · Act</a:t>
            </a:r>
            <a:endParaRPr lang="en-US" sz="1150" dirty="0"/>
          </a:p>
        </p:txBody>
      </p:sp>
      <p:sp>
        <p:nvSpPr>
          <p:cNvPr id="14" name="Shape 10"/>
          <p:cNvSpPr/>
          <p:nvPr/>
        </p:nvSpPr>
        <p:spPr>
          <a:xfrm>
            <a:off x="6016752" y="2674620"/>
            <a:ext cx="402336" cy="0"/>
          </a:xfrm>
          <a:prstGeom prst="line">
            <a:avLst/>
          </a:prstGeom>
          <a:noFill/>
          <a:ln w="31750">
            <a:solidFill>
              <a:srgbClr val="13B5EA"/>
            </a:solidFill>
            <a:prstDash val="solid"/>
            <a:tailEnd type="triangle"/>
          </a:ln>
        </p:spPr>
      </p:sp>
      <p:sp>
        <p:nvSpPr>
          <p:cNvPr id="15" name="Shape 11"/>
          <p:cNvSpPr/>
          <p:nvPr/>
        </p:nvSpPr>
        <p:spPr>
          <a:xfrm>
            <a:off x="6492240" y="1600200"/>
            <a:ext cx="2377440" cy="2148840"/>
          </a:xfrm>
          <a:prstGeom prst="roundRect">
            <a:avLst>
              <a:gd name="adj" fmla="val 4255"/>
            </a:avLst>
          </a:prstGeom>
          <a:solidFill>
            <a:srgbClr val="FFFFFF"/>
          </a:solidFill>
          <a:ln/>
          <a:effectLst>
            <a:outerShdw sx="100000" sy="100000" kx="0" ky="0" algn="bl" rotWithShape="0" blurRad="114300" dist="38100" dir="5400000">
              <a:srgbClr val="9AA5AE">
                <a:alpha val="28000"/>
              </a:srgbClr>
            </a:outerShdw>
          </a:effectLst>
        </p:spPr>
      </p:sp>
      <p:sp>
        <p:nvSpPr>
          <p:cNvPr id="16" name="Shape 12"/>
          <p:cNvSpPr/>
          <p:nvPr/>
        </p:nvSpPr>
        <p:spPr>
          <a:xfrm>
            <a:off x="7223760" y="1920240"/>
            <a:ext cx="914400" cy="914400"/>
          </a:xfrm>
          <a:prstGeom prst="ellipse">
            <a:avLst/>
          </a:prstGeom>
          <a:solidFill>
            <a:srgbClr val="13B5EA"/>
          </a:solidFill>
          <a:ln/>
        </p:spPr>
      </p:sp>
      <p:pic>
        <p:nvPicPr>
          <p:cNvPr id="17" name="Image 2" descr="icons/plug.png">    </p:cNvPr>
          <p:cNvPicPr>
            <a:picLocks noChangeAspect="1"/>
          </p:cNvPicPr>
          <p:nvPr/>
        </p:nvPicPr>
        <p:blipFill>
          <a:blip r:embed="rId3"/>
          <a:stretch>
            <a:fillRect/>
          </a:stretch>
        </p:blipFill>
        <p:spPr>
          <a:xfrm>
            <a:off x="7461504" y="2157984"/>
            <a:ext cx="438912" cy="438912"/>
          </a:xfrm>
          <a:prstGeom prst="rect">
            <a:avLst/>
          </a:prstGeom>
        </p:spPr>
      </p:pic>
      <p:sp>
        <p:nvSpPr>
          <p:cNvPr id="18" name="Text 13"/>
          <p:cNvSpPr/>
          <p:nvPr/>
        </p:nvSpPr>
        <p:spPr>
          <a:xfrm>
            <a:off x="6583680" y="2926080"/>
            <a:ext cx="2194560" cy="365760"/>
          </a:xfrm>
          <a:prstGeom prst="rect">
            <a:avLst/>
          </a:prstGeom>
          <a:noFill/>
          <a:ln/>
        </p:spPr>
        <p:txBody>
          <a:bodyPr wrap="square" lIns="0" tIns="0" rIns="0" bIns="0" rtlCol="0" anchor="ctr"/>
          <a:lstStyle/>
          <a:p>
            <a:pPr algn="ctr" indent="0" marL="0">
              <a:buNone/>
            </a:pPr>
            <a:r>
              <a:rPr lang="en-US" sz="1550" b="1" dirty="0">
                <a:solidFill>
                  <a:srgbClr val="1B2733"/>
                </a:solidFill>
                <a:latin typeface="Inter" pitchFamily="34" charset="0"/>
                <a:ea typeface="Inter" pitchFamily="34" charset="-122"/>
                <a:cs typeface="Inter" pitchFamily="34" charset="-120"/>
              </a:rPr>
              <a:t>Xero MCP Server</a:t>
            </a:r>
            <a:endParaRPr lang="en-US" sz="1550" dirty="0"/>
          </a:p>
        </p:txBody>
      </p:sp>
      <p:sp>
        <p:nvSpPr>
          <p:cNvPr id="19" name="Text 14"/>
          <p:cNvSpPr/>
          <p:nvPr/>
        </p:nvSpPr>
        <p:spPr>
          <a:xfrm>
            <a:off x="6629400" y="3291840"/>
            <a:ext cx="2103120" cy="457200"/>
          </a:xfrm>
          <a:prstGeom prst="rect">
            <a:avLst/>
          </a:prstGeom>
          <a:noFill/>
          <a:ln/>
        </p:spPr>
        <p:txBody>
          <a:bodyPr wrap="square" lIns="0" tIns="0" rIns="0" bIns="0" rtlCol="0" anchor="ctr"/>
          <a:lstStyle/>
          <a:p>
            <a:pPr algn="ctr" indent="0" marL="0">
              <a:lnSpc>
                <a:spcPct val="110000"/>
              </a:lnSpc>
              <a:buNone/>
            </a:pPr>
            <a:r>
              <a:rPr lang="en-US" sz="1150" dirty="0">
                <a:solidFill>
                  <a:srgbClr val="5A6672"/>
                </a:solidFill>
                <a:latin typeface="Inter" pitchFamily="34" charset="0"/>
                <a:ea typeface="Inter" pitchFamily="34" charset="-122"/>
                <a:cs typeface="Inter" pitchFamily="34" charset="-120"/>
              </a:rPr>
              <a:t>Official @xeroapi/xero-mcp-server</a:t>
            </a:r>
            <a:endParaRPr lang="en-US" sz="1150" dirty="0"/>
          </a:p>
        </p:txBody>
      </p:sp>
      <p:sp>
        <p:nvSpPr>
          <p:cNvPr id="20" name="Shape 15"/>
          <p:cNvSpPr/>
          <p:nvPr/>
        </p:nvSpPr>
        <p:spPr>
          <a:xfrm>
            <a:off x="3108960" y="4069080"/>
            <a:ext cx="2926080" cy="548640"/>
          </a:xfrm>
          <a:prstGeom prst="roundRect">
            <a:avLst>
              <a:gd name="adj" fmla="val 50000"/>
            </a:avLst>
          </a:prstGeom>
          <a:solidFill>
            <a:srgbClr val="1B2733"/>
          </a:solidFill>
          <a:ln/>
        </p:spPr>
      </p:sp>
      <p:sp>
        <p:nvSpPr>
          <p:cNvPr id="21" name="Text 16"/>
          <p:cNvSpPr/>
          <p:nvPr/>
        </p:nvSpPr>
        <p:spPr>
          <a:xfrm>
            <a:off x="3108960" y="4069080"/>
            <a:ext cx="29260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  Xero Accounting API</a:t>
            </a:r>
            <a:endParaRPr lang="en-US" sz="1300" dirty="0"/>
          </a:p>
        </p:txBody>
      </p:sp>
      <p:sp>
        <p:nvSpPr>
          <p:cNvPr id="22" name="Text 17"/>
          <p:cNvSpPr/>
          <p:nvPr/>
        </p:nvSpPr>
        <p:spPr>
          <a:xfrm>
            <a:off x="548640" y="4736592"/>
            <a:ext cx="8046720" cy="274320"/>
          </a:xfrm>
          <a:prstGeom prst="rect">
            <a:avLst/>
          </a:prstGeom>
          <a:noFill/>
          <a:ln/>
        </p:spPr>
        <p:txBody>
          <a:bodyPr wrap="square" lIns="0" tIns="0" rIns="0" bIns="0" rtlCol="0" anchor="ctr"/>
          <a:lstStyle/>
          <a:p>
            <a:pPr algn="ctr" indent="0" marL="0">
              <a:buNone/>
            </a:pPr>
            <a:r>
              <a:rPr lang="en-US" sz="1100" dirty="0">
                <a:solidFill>
                  <a:srgbClr val="5A6672"/>
                </a:solidFill>
                <a:latin typeface="Inter" pitchFamily="34" charset="0"/>
                <a:ea typeface="Inter" pitchFamily="34" charset="-122"/>
                <a:cs typeface="Inter" pitchFamily="34" charset="-120"/>
              </a:rPr>
              <a:t>Node / TypeScript  ·  React / Vite  ·  official Xero MCP Server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733"/>
        </a:solidFill>
      </p:bgPr>
    </p:bg>
    <p:spTree>
      <p:nvGrpSpPr>
        <p:cNvPr id="1" name=""/>
        <p:cNvGrpSpPr/>
        <p:nvPr/>
      </p:nvGrpSpPr>
      <p:grpSpPr>
        <a:xfrm>
          <a:off x="0" y="0"/>
          <a:ext cx="0" cy="0"/>
          <a:chOff x="0" y="0"/>
          <a:chExt cx="0" cy="0"/>
        </a:xfrm>
      </p:grpSpPr>
      <p:sp>
        <p:nvSpPr>
          <p:cNvPr id="2" name="Text 0"/>
          <p:cNvSpPr/>
          <p:nvPr/>
        </p:nvSpPr>
        <p:spPr>
          <a:xfrm>
            <a:off x="777240" y="1371600"/>
            <a:ext cx="7589520" cy="1371600"/>
          </a:xfrm>
          <a:prstGeom prst="rect">
            <a:avLst/>
          </a:prstGeom>
          <a:noFill/>
          <a:ln/>
        </p:spPr>
        <p:txBody>
          <a:bodyPr wrap="square" lIns="0" tIns="0" rIns="0" bIns="0" rtlCol="0" anchor="ctr"/>
          <a:lstStyle/>
          <a:p>
            <a:pPr indent="0" marL="0">
              <a:lnSpc>
                <a:spcPct val="110000"/>
              </a:lnSpc>
              <a:buNone/>
            </a:pPr>
            <a:r>
              <a:rPr lang="en-US" sz="3400" b="1" dirty="0">
                <a:solidFill>
                  <a:srgbClr val="FFFFFF"/>
                </a:solidFill>
                <a:latin typeface="Inter" pitchFamily="34" charset="0"/>
                <a:ea typeface="Inter" pitchFamily="34" charset="-122"/>
                <a:cs typeface="Inter" pitchFamily="34" charset="-120"/>
              </a:rPr>
              <a:t>Real data in.  Real drafts out.</a:t>
            </a:r>
            <a:endParaRPr lang="en-US" sz="3400" dirty="0"/>
          </a:p>
          <a:p>
            <a:pPr indent="0" marL="0">
              <a:lnSpc>
                <a:spcPct val="110000"/>
              </a:lnSpc>
              <a:buNone/>
            </a:pPr>
            <a:r>
              <a:rPr lang="en-US" sz="3400" b="1" dirty="0">
                <a:solidFill>
                  <a:srgbClr val="FFFFFF"/>
                </a:solidFill>
                <a:latin typeface="Inter" pitchFamily="34" charset="0"/>
                <a:ea typeface="Inter" pitchFamily="34" charset="-122"/>
                <a:cs typeface="Inter" pitchFamily="34" charset="-120"/>
              </a:rPr>
              <a:t>Human stays in control.</a:t>
            </a:r>
            <a:endParaRPr lang="en-US" sz="3400" dirty="0"/>
          </a:p>
        </p:txBody>
      </p:sp>
      <p:sp>
        <p:nvSpPr>
          <p:cNvPr id="3" name="Text 1"/>
          <p:cNvSpPr/>
          <p:nvPr/>
        </p:nvSpPr>
        <p:spPr>
          <a:xfrm>
            <a:off x="822960" y="2880360"/>
            <a:ext cx="6766560" cy="822960"/>
          </a:xfrm>
          <a:prstGeom prst="rect">
            <a:avLst/>
          </a:prstGeom>
          <a:noFill/>
          <a:ln/>
        </p:spPr>
        <p:txBody>
          <a:bodyPr wrap="square" lIns="0" tIns="0" rIns="0" bIns="0" rtlCol="0" anchor="ctr"/>
          <a:lstStyle/>
          <a:p>
            <a:pPr indent="0" marL="0">
              <a:lnSpc>
                <a:spcPct val="120000"/>
              </a:lnSpc>
              <a:buNone/>
            </a:pPr>
            <a:r>
              <a:rPr lang="en-US" sz="1500" dirty="0">
                <a:solidFill>
                  <a:srgbClr val="C4CDD5"/>
                </a:solidFill>
                <a:latin typeface="Inter" pitchFamily="34" charset="0"/>
                <a:ea typeface="Inter" pitchFamily="34" charset="-122"/>
                <a:cs typeface="Inter" pitchFamily="34" charset="-120"/>
              </a:rPr>
              <a:t>Data analysis + autonomous action — turning insight into a measurable outcome, with a person still deciding what happens.</a:t>
            </a:r>
            <a:endParaRPr lang="en-US" sz="1500" dirty="0"/>
          </a:p>
        </p:txBody>
      </p:sp>
      <p:sp>
        <p:nvSpPr>
          <p:cNvPr id="4" name="Shape 2"/>
          <p:cNvSpPr/>
          <p:nvPr/>
        </p:nvSpPr>
        <p:spPr>
          <a:xfrm>
            <a:off x="822960" y="3886200"/>
            <a:ext cx="2743200" cy="0"/>
          </a:xfrm>
          <a:prstGeom prst="line">
            <a:avLst/>
          </a:prstGeom>
          <a:noFill/>
          <a:ln w="12700">
            <a:solidFill>
              <a:srgbClr val="3A4653"/>
            </a:solidFill>
            <a:prstDash val="solid"/>
          </a:ln>
        </p:spPr>
      </p:sp>
      <p:sp>
        <p:nvSpPr>
          <p:cNvPr id="5" name="Text 3"/>
          <p:cNvSpPr/>
          <p:nvPr/>
        </p:nvSpPr>
        <p:spPr>
          <a:xfrm>
            <a:off x="822960" y="4069080"/>
            <a:ext cx="7315200" cy="731520"/>
          </a:xfrm>
          <a:prstGeom prst="rect">
            <a:avLst/>
          </a:prstGeom>
          <a:noFill/>
          <a:ln/>
        </p:spPr>
        <p:txBody>
          <a:bodyPr wrap="square" lIns="0" tIns="0" rIns="0" bIns="0" rtlCol="0" anchor="ctr"/>
          <a:lstStyle/>
          <a:p>
            <a:pPr indent="0" marL="0">
              <a:spcAft>
                <a:spcPts val="400"/>
              </a:spcAft>
              <a:buNone/>
            </a:pPr>
            <a:r>
              <a:rPr lang="en-US" sz="1400" dirty="0">
                <a:solidFill>
                  <a:srgbClr val="13B5EA"/>
                </a:solidFill>
                <a:latin typeface="Inter" pitchFamily="34" charset="0"/>
                <a:ea typeface="Inter" pitchFamily="34" charset="-122"/>
                <a:cs typeface="Inter" pitchFamily="34" charset="-120"/>
              </a:rPr>
              <a:t>github.com/your-repo/cashflow-growth-agent</a:t>
            </a:r>
            <a:endParaRPr lang="en-US" sz="1400" dirty="0"/>
          </a:p>
          <a:p>
            <a:pPr indent="0" marL="0">
              <a:buNone/>
            </a:pPr>
            <a:r>
              <a:rPr lang="en-US" sz="1400" b="1" dirty="0">
                <a:solidFill>
                  <a:srgbClr val="FFFFFF"/>
                </a:solidFill>
                <a:latin typeface="Inter" pitchFamily="34" charset="0"/>
                <a:ea typeface="Inter" pitchFamily="34" charset="-122"/>
                <a:cs typeface="Inter" pitchFamily="34" charset="-120"/>
              </a:rPr>
              <a:t>Thank you.</a:t>
            </a:r>
            <a:endParaRPr lang="en-US" sz="1400" dirty="0"/>
          </a:p>
        </p:txBody>
      </p:sp>
      <p:sp>
        <p:nvSpPr>
          <p:cNvPr id="6" name="Shape 4"/>
          <p:cNvSpPr/>
          <p:nvPr/>
        </p:nvSpPr>
        <p:spPr>
          <a:xfrm>
            <a:off x="7818120" y="4114800"/>
            <a:ext cx="640080" cy="640080"/>
          </a:xfrm>
          <a:prstGeom prst="ellipse">
            <a:avLst/>
          </a:prstGeom>
          <a:solidFill>
            <a:srgbClr val="13B5EA"/>
          </a:solidFill>
          <a:ln/>
        </p:spPr>
      </p:sp>
      <p:sp>
        <p:nvSpPr>
          <p:cNvPr id="7" name="Text 5"/>
          <p:cNvSpPr/>
          <p:nvPr/>
        </p:nvSpPr>
        <p:spPr>
          <a:xfrm>
            <a:off x="7818120" y="4114800"/>
            <a:ext cx="640080" cy="640080"/>
          </a:xfrm>
          <a:prstGeom prst="rect">
            <a:avLst/>
          </a:prstGeom>
          <a:noFill/>
          <a:ln/>
        </p:spPr>
        <p:txBody>
          <a:bodyPr wrap="square" rtlCol="0" anchor="ctr"/>
          <a:lstStyle/>
          <a:p>
            <a:pPr algn="ctr" indent="0" marL="0">
              <a:buNone/>
            </a:pPr>
            <a:r>
              <a:rPr lang="en-US" sz="2800" b="1" dirty="0">
                <a:solidFill>
                  <a:srgbClr val="FFFFFF"/>
                </a:solidFill>
                <a:latin typeface="Inter" pitchFamily="34" charset="0"/>
                <a:ea typeface="Inter" pitchFamily="34" charset="-122"/>
                <a:cs typeface="Inter" pitchFamily="34" charset="-120"/>
              </a:rPr>
              <a:t>X</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CashFlow Growth Agent</dc:title>
  <dc:subject>PptxGenJS Presentation</dc:subject>
  <dc:creator>CashFlow Growth Agent</dc:creator>
  <cp:lastModifiedBy>CashFlow Growth Agent</cp:lastModifiedBy>
  <cp:revision>1</cp:revision>
  <dcterms:created xsi:type="dcterms:W3CDTF">2026-07-05T10:59:01Z</dcterms:created>
  <dcterms:modified xsi:type="dcterms:W3CDTF">2026-07-05T10:59:01Z</dcterms:modified>
</cp:coreProperties>
</file>